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ورحمة الله وبركاته. يسعدنا أن نقدم لحضراتكم مشروع InsightEdu — منصة تعليمية ذكية تعتمد على الذكاء الاصطناعي لتحقيق رؤية تعليمية شاملة.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نقدم لحضراتكم فريق العمل المكون من 4 طلاب من برنامج إعداد معلم الحاسب الآلي بكلية التربية النوعية جامعة دمياط، تحت إشراف أكاديمي متميز.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هي محاور العرض التي سنتناولها اليوم. سنبدأ بالمشكلة والدافع ثم ننتقل لفلسفة المشروع وكل مكوناته التقنية.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التعليم التقليدي، المؤسسات بتعاني من 5 نقاط عمى أساسية. من تسجيل حضور قابل للتزوير، لحد عدم وجود نظام إنذار مبكر للطلاب المعرضين للخطر. السؤال هنا: هل نقدر نخلي النظام التعليمي يشوف؟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InsightEdu قايم على 4 ركائز أساسية — كل ركيزة بتحل واحدة أو أكتر من نقاط العمى. بصيرة الهوية من خلال التعرف على الوجه، بصيرة الأداء من خلال التصحيح الآلي، بصيرة المخاطر من خلال التحليل التنبؤي، وبصيرة التواصل من خلال نظام الأدوار والإرشاد.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النظام مبني على 4 طبقات: طبقة الأجهزة (ESP32-CAM و ESP8266 مع RFID)، طبقة الذكاء الاصطناعي (Flask server مع نظام التعرف على الوجه)، المنصة التعليمية (Next.js مع 5 أدوار)، وقاعدة البيانات PostgreSQL بأكتر من 20 جدول.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نظام التعرف على الوجه بيعتمد على تقنيتين: LBP لمقارنة المظهر مع threshold 0.42، و MediaPipe FaceMesh اللي بيحلل 468 نقطة على الوجه ويحولها لـ 1404 feature. النظام بيستخدم dual verification — لازم الاتنين يوافقوا عشان يتسجل الحضور.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الـ Hardware مكون من جهازين: ESP32-CAM اللي بيلتقط صور الوجه عبر sensor OV2640 ويبعتها كـ JPEG، و ESP8266 NodeMCU V3 اللي متوصل بـ RFID reader و LCD screen و buzzer. لما الطالب يمسح الكارت، ESP8266 بيبعت Card ID لـ Flask، و Flask بيطلب صورة من ESP32-CAM.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أهم التحديات اللي حليناها: إزاي النظام يعرف إن الجهاز ده بيسجل لمحاضرة معينة. الحل كان Device-to-Session Mapping بالـ IP — الدكتور من الـ Dashboard بيختار الجهاز والـ session، والنظام بيحفظ العلاقة. كده لو 3 دكاتره شغالين في نفس الوقت مش هيأثروا على بعض.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نظام الامتحانات بيعتمد على OCR — الدكتور بينشئ الامتحان والنظام يولد ورقة إجابة مع QR Code فريد لكل طالب. بعد ما الطالب يحل، الورقة بتتسكن والـ OCR engine بيقرأ الفقاعات ويصحح تلقائي. الإعدادات زي الـ threshold والـ blur قابلة للتعديل لكل امتحان.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المنصة بتدعم 5 أدوار مختلفة: Admin للإدارة الكاملة، Teacher لإدارة الحضور والامتحانات والواجبات، Student لعرض البيانات وتقديم الواجبات، Advisor للإرشاد الأكاديمي، و TA لمساعدة المحاضر. كل دور ليه Dashboard مخصصة ليه.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التقنيات المستخدمة تشمل: Frontend بـ Next.js و TypeScript و Tailwind، Backend بـ NextAuth.js و Prisma، الذكاء الاصطناعي بـ Flask و MediaPipe و OpenCV، وقاعدة البيانات PostgreSQL على Neon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قاعدة البيانات PostgreSQL فيها أكتر من 20 جدول مقسمين على 6 مجموعات: Core tables للمستخدمين والكورسات، Attendance للحضور مع unique constraint، Exams &amp; OCR للامتحانات والتصحيح، Activities للأنشطة الطلابية، Advisor للإرشاد الأكاديمي، و System للإشعارات وسجل العمليات.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نظام Student Insights بياخد 4 مقاييس: نسبة الحضور، متوسط الدرجات، معدل تسليم الواجبات، ومستوى التفاعل. بناءً عليهم بيصنف الطالب لـ 3 مستويات خطر: منخفض (كل حاجة تمام)، متوسط (محتاج متابعة)، أو مرتفع (لازم تدخل فوري). كمان بيقدم توصيات وأسباب التصنيف.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نظام الإرشاد الأكاديمي بيربط المرشد بالطالب عبر 4 قنوات: توصيات أكاديمية عادية وتحذيرية، جدولة اجتماعات، نظام إشعارات داخلي، وتقارير شاملة. ده بيحقق بصيرة التواصل اللي بتضمن إن مفيش طالب يتوه في النظام.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نظام الأنشطة بيدعم 5 أنواع: مهمة، اختبار قصير، مشروع، امتحان، وحدث. كل نشاط ممكن يحتوي على 7 أنواع محتوى مختلفة. الطالب يقدم النشاط ويمر بـ 4 مراحل من Pending لـ 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الأمان في النظام بيعتمد على عدة طبقات: NextAuth.js مع JWT tokens، Role-Based Access Control لـ 5 أدوار، Cascade Delete لحماية البيانات، Unique Constraints لمنع التكرار، Admin Audit Log لتسجيل كل العمليات، وإجبار تغيير كلمة المرور عند أول تسجيل دخول.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أبرز النتائج: قاعدة بيانات بأكتر من 20 جدول، 5 أدوار مستخدمين، خوارزميتين AI للتعرف على الوجه، و 7 أنواع محتوى. النظام بيمنع تزوير الحضور، بيوفر ساعات تصحيح، وبيكتشف الطلاب المعرضين للخطر مبكراً.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المستقبل نخطط لتطوير تطبيق موبايل، ترقية نظام التعرف على الوجه لـ Deep Learning، إضافة AI Chatbot للمساعدة الأكاديمية، التكامل مع أنظمة LMS، وتطوير لوحات تحكم متقدمة بتحليلات real-time.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شكراً لحسن استماعكم. نتمنى أن يكون المشروع قد نال إعجابكم. مستعدون لأي أسئلة أو استفسارات.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429000" y="365760"/>
            <a:ext cx="2286000" cy="2286000"/>
          </a:xfrm>
          <a:prstGeom prst="rect">
            <a:avLst/>
          </a:prstGeom>
        </p:spPr>
      </p:pic>
      <p:sp>
        <p:nvSpPr>
          <p:cNvPr id="3" name="Text 0"/>
          <p:cNvSpPr/>
          <p:nvPr/>
        </p:nvSpPr>
        <p:spPr>
          <a:xfrm>
            <a:off x="457200" y="2743200"/>
            <a:ext cx="8229600" cy="731520"/>
          </a:xfrm>
          <a:prstGeom prst="rect">
            <a:avLst/>
          </a:prstGeom>
          <a:noFill/>
          <a:ln/>
        </p:spPr>
        <p:txBody>
          <a:bodyPr wrap="square" rtlCol="0" anchor="ctr"/>
          <a:lstStyle/>
          <a:p>
            <a:pPr algn="ctr" indent="0" marL="0">
              <a:buNone/>
            </a:pPr>
            <a:r>
              <a:rPr lang="en-US" sz="4400" b="1" spc="400" kern="0" dirty="0">
                <a:solidFill>
                  <a:srgbClr val="FFFFFF"/>
                </a:solidFill>
                <a:latin typeface="Calibri" pitchFamily="34" charset="0"/>
                <a:ea typeface="Calibri" pitchFamily="34" charset="-122"/>
                <a:cs typeface="Calibri" pitchFamily="34" charset="-120"/>
              </a:rPr>
              <a:t>InsightEdu</a:t>
            </a:r>
            <a:endParaRPr lang="en-US" sz="4400" dirty="0"/>
          </a:p>
        </p:txBody>
      </p:sp>
      <p:sp>
        <p:nvSpPr>
          <p:cNvPr id="4" name="Text 1"/>
          <p:cNvSpPr/>
          <p:nvPr/>
        </p:nvSpPr>
        <p:spPr>
          <a:xfrm>
            <a:off x="457200" y="3383280"/>
            <a:ext cx="8229600" cy="457200"/>
          </a:xfrm>
          <a:prstGeom prst="rect">
            <a:avLst/>
          </a:prstGeom>
          <a:noFill/>
          <a:ln/>
        </p:spPr>
        <p:txBody>
          <a:bodyPr wrap="square" rtlCol="0" anchor="ctr"/>
          <a:lstStyle/>
          <a:p>
            <a:pPr algn="ctr" indent="0" marL="0">
              <a:buNone/>
            </a:pPr>
            <a:r>
              <a:rPr lang="en-US" sz="2200" dirty="0">
                <a:solidFill>
                  <a:srgbClr val="F5A623"/>
                </a:solidFill>
                <a:latin typeface="Calibri" pitchFamily="34" charset="0"/>
                <a:ea typeface="Calibri" pitchFamily="34" charset="-122"/>
                <a:cs typeface="Calibri" pitchFamily="34" charset="-120"/>
              </a:rPr>
              <a:t>رؤية تعليمية ذكية</a:t>
            </a:r>
            <a:endParaRPr lang="en-US" sz="2200" dirty="0"/>
          </a:p>
        </p:txBody>
      </p:sp>
      <p:sp>
        <p:nvSpPr>
          <p:cNvPr id="5" name="Text 2"/>
          <p:cNvSpPr/>
          <p:nvPr/>
        </p:nvSpPr>
        <p:spPr>
          <a:xfrm>
            <a:off x="457200" y="3749040"/>
            <a:ext cx="8229600" cy="365760"/>
          </a:xfrm>
          <a:prstGeom prst="rect">
            <a:avLst/>
          </a:prstGeom>
          <a:noFill/>
          <a:ln/>
        </p:spPr>
        <p:txBody>
          <a:bodyPr wrap="square" rtlCol="0" anchor="ctr"/>
          <a:lstStyle/>
          <a:p>
            <a:pPr algn="ctr" indent="0" marL="0">
              <a:buNone/>
            </a:pPr>
            <a:r>
              <a:rPr lang="en-US" sz="1400" dirty="0">
                <a:solidFill>
                  <a:srgbClr val="6B7B9A"/>
                </a:solidFill>
                <a:latin typeface="Calibri" pitchFamily="34" charset="0"/>
                <a:ea typeface="Calibri" pitchFamily="34" charset="-122"/>
                <a:cs typeface="Calibri" pitchFamily="34" charset="-120"/>
              </a:rPr>
              <a:t>Smart Educational Insight Platform</a:t>
            </a:r>
            <a:endParaRPr lang="en-US" sz="1400" dirty="0"/>
          </a:p>
        </p:txBody>
      </p:sp>
      <p:sp>
        <p:nvSpPr>
          <p:cNvPr id="6" name="Text 3"/>
          <p:cNvSpPr/>
          <p:nvPr/>
        </p:nvSpPr>
        <p:spPr>
          <a:xfrm>
            <a:off x="457200" y="4297680"/>
            <a:ext cx="8229600" cy="320040"/>
          </a:xfrm>
          <a:prstGeom prst="rect">
            <a:avLst/>
          </a:prstGeom>
          <a:noFill/>
          <a:ln/>
        </p:spPr>
        <p:txBody>
          <a:bodyPr wrap="square" rtlCol="0" anchor="ctr"/>
          <a:lstStyle/>
          <a:p>
            <a:pPr algn="ctr" indent="0" marL="0">
              <a:buNone/>
            </a:pPr>
            <a:r>
              <a:rPr lang="en-US" sz="1100" dirty="0">
                <a:solidFill>
                  <a:srgbClr val="6B7B9A"/>
                </a:solidFill>
                <a:latin typeface="Calibri" pitchFamily="34" charset="0"/>
                <a:ea typeface="Calibri" pitchFamily="34" charset="-122"/>
                <a:cs typeface="Calibri" pitchFamily="34" charset="-120"/>
              </a:rPr>
              <a:t>مشروع تخرج — جامعة دمياط | كلية التربية النوعية | برنامج إعداد معلم الحاسب الآلي</a:t>
            </a:r>
            <a:endParaRPr lang="en-US" sz="1100" dirty="0"/>
          </a:p>
        </p:txBody>
      </p:sp>
      <p:sp>
        <p:nvSpPr>
          <p:cNvPr id="7" name="Text 4"/>
          <p:cNvSpPr/>
          <p:nvPr/>
        </p:nvSpPr>
        <p:spPr>
          <a:xfrm>
            <a:off x="457200" y="4617720"/>
            <a:ext cx="8229600" cy="320040"/>
          </a:xfrm>
          <a:prstGeom prst="rect">
            <a:avLst/>
          </a:prstGeom>
          <a:noFill/>
          <a:ln/>
        </p:spPr>
        <p:txBody>
          <a:bodyPr wrap="square" rtlCol="0" anchor="ctr"/>
          <a:lstStyle/>
          <a:p>
            <a:pPr algn="ctr" indent="0" marL="0">
              <a:buNone/>
            </a:pPr>
            <a:r>
              <a:rPr lang="en-US" sz="1200" dirty="0">
                <a:solidFill>
                  <a:srgbClr val="F5A623"/>
                </a:solidFill>
                <a:latin typeface="Calibri" pitchFamily="34" charset="0"/>
                <a:ea typeface="Calibri" pitchFamily="34" charset="-122"/>
                <a:cs typeface="Calibri" pitchFamily="34" charset="-120"/>
              </a:rPr>
              <a:t>2024 / 2025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algn="ctr" indent="0" marL="0">
              <a:buNone/>
            </a:pPr>
            <a:r>
              <a:rPr lang="en-US" sz="3600" b="1" dirty="0">
                <a:solidFill>
                  <a:srgbClr val="1B2A4A"/>
                </a:solidFill>
                <a:latin typeface="Calibri" pitchFamily="34" charset="0"/>
                <a:ea typeface="Calibri" pitchFamily="34" charset="-122"/>
                <a:cs typeface="Calibri" pitchFamily="34" charset="-120"/>
              </a:rPr>
              <a:t>فريق العمل</a:t>
            </a:r>
            <a:endParaRPr lang="en-US" sz="3600" dirty="0"/>
          </a:p>
        </p:txBody>
      </p:sp>
      <p:sp>
        <p:nvSpPr>
          <p:cNvPr id="3" name="Shape 1"/>
          <p:cNvSpPr/>
          <p:nvPr/>
        </p:nvSpPr>
        <p:spPr>
          <a:xfrm>
            <a:off x="914400" y="1280160"/>
            <a:ext cx="3474720" cy="1005840"/>
          </a:xfrm>
          <a:prstGeom prst="roundRect">
            <a:avLst>
              <a:gd name="adj" fmla="val 9091"/>
            </a:avLst>
          </a:prstGeom>
          <a:solidFill>
            <a:srgbClr val="FFFFFF"/>
          </a:solidFill>
          <a:ln/>
          <a:effectLst>
            <a:outerShdw sx="100000" sy="100000" kx="0" ky="0" algn="bl" rotWithShape="0" blurRad="101600" dist="38100" dir="2700000">
              <a:srgbClr val="000000">
                <a:alpha val="18000"/>
              </a:srgbClr>
            </a:outerShdw>
          </a:effectLst>
        </p:spPr>
      </p:sp>
      <p:sp>
        <p:nvSpPr>
          <p:cNvPr id="4" name="Text 2"/>
          <p:cNvSpPr/>
          <p:nvPr/>
        </p:nvSpPr>
        <p:spPr>
          <a:xfrm>
            <a:off x="914400" y="1280160"/>
            <a:ext cx="3474720" cy="640080"/>
          </a:xfrm>
          <a:prstGeom prst="rect">
            <a:avLst/>
          </a:prstGeom>
          <a:noFill/>
          <a:ln/>
        </p:spPr>
        <p:txBody>
          <a:bodyPr wrap="square" lIns="0" tIns="0" rIns="0" bIns="0" rtlCol="0" anchor="b"/>
          <a:lstStyle/>
          <a:p>
            <a:pPr algn="ctr" indent="0" marL="0">
              <a:buNone/>
            </a:pPr>
            <a:r>
              <a:rPr lang="en-US" sz="1800" b="1" dirty="0">
                <a:solidFill>
                  <a:srgbClr val="1B2A4A"/>
                </a:solidFill>
                <a:latin typeface="Calibri" pitchFamily="34" charset="0"/>
                <a:ea typeface="Calibri" pitchFamily="34" charset="-122"/>
                <a:cs typeface="Calibri" pitchFamily="34" charset="-120"/>
              </a:rPr>
              <a:t>أحمد وجيه عبدالعاطي</a:t>
            </a:r>
            <a:endParaRPr lang="en-US" sz="1800" dirty="0"/>
          </a:p>
        </p:txBody>
      </p:sp>
      <p:sp>
        <p:nvSpPr>
          <p:cNvPr id="5" name="Text 3"/>
          <p:cNvSpPr/>
          <p:nvPr/>
        </p:nvSpPr>
        <p:spPr>
          <a:xfrm>
            <a:off x="914400" y="1828800"/>
            <a:ext cx="3474720" cy="365760"/>
          </a:xfrm>
          <a:prstGeom prst="rect">
            <a:avLst/>
          </a:prstGeom>
          <a:noFill/>
          <a:ln/>
        </p:spPr>
        <p:txBody>
          <a:bodyPr wrap="square" lIns="0" tIns="0" rIns="0" bIns="0" rtlCol="0" anchor="ctr"/>
          <a:lstStyle/>
          <a:p>
            <a:pPr algn="ctr" indent="0" marL="0">
              <a:buNone/>
            </a:pPr>
            <a:r>
              <a:rPr lang="en-US" sz="1000" dirty="0">
                <a:solidFill>
                  <a:srgbClr val="6B7B9A"/>
                </a:solidFill>
                <a:latin typeface="Calibri" pitchFamily="34" charset="0"/>
                <a:ea typeface="Calibri" pitchFamily="34" charset="-122"/>
                <a:cs typeface="Calibri" pitchFamily="34" charset="-120"/>
              </a:rPr>
              <a:t>طالب — برنامج إعداد معلم الحاسب الآلي</a:t>
            </a:r>
            <a:endParaRPr lang="en-US" sz="1000" dirty="0"/>
          </a:p>
        </p:txBody>
      </p:sp>
      <p:sp>
        <p:nvSpPr>
          <p:cNvPr id="6" name="Shape 4"/>
          <p:cNvSpPr/>
          <p:nvPr/>
        </p:nvSpPr>
        <p:spPr>
          <a:xfrm>
            <a:off x="4754880" y="1280160"/>
            <a:ext cx="3474720" cy="1005840"/>
          </a:xfrm>
          <a:prstGeom prst="roundRect">
            <a:avLst>
              <a:gd name="adj" fmla="val 9091"/>
            </a:avLst>
          </a:prstGeom>
          <a:solidFill>
            <a:srgbClr val="FFFFFF"/>
          </a:solidFill>
          <a:ln/>
          <a:effectLst>
            <a:outerShdw sx="100000" sy="100000" kx="0" ky="0" algn="bl" rotWithShape="0" blurRad="101600" dist="38100" dir="2700000">
              <a:srgbClr val="000000">
                <a:alpha val="18000"/>
              </a:srgbClr>
            </a:outerShdw>
          </a:effectLst>
        </p:spPr>
      </p:sp>
      <p:sp>
        <p:nvSpPr>
          <p:cNvPr id="7" name="Text 5"/>
          <p:cNvSpPr/>
          <p:nvPr/>
        </p:nvSpPr>
        <p:spPr>
          <a:xfrm>
            <a:off x="4754880" y="1280160"/>
            <a:ext cx="3474720" cy="640080"/>
          </a:xfrm>
          <a:prstGeom prst="rect">
            <a:avLst/>
          </a:prstGeom>
          <a:noFill/>
          <a:ln/>
        </p:spPr>
        <p:txBody>
          <a:bodyPr wrap="square" lIns="0" tIns="0" rIns="0" bIns="0" rtlCol="0" anchor="b"/>
          <a:lstStyle/>
          <a:p>
            <a:pPr algn="ctr" indent="0" marL="0">
              <a:buNone/>
            </a:pPr>
            <a:r>
              <a:rPr lang="en-US" sz="1800" b="1" dirty="0">
                <a:solidFill>
                  <a:srgbClr val="1B2A4A"/>
                </a:solidFill>
                <a:latin typeface="Calibri" pitchFamily="34" charset="0"/>
                <a:ea typeface="Calibri" pitchFamily="34" charset="-122"/>
                <a:cs typeface="Calibri" pitchFamily="34" charset="-120"/>
              </a:rPr>
              <a:t>محمد أبوهيبة</a:t>
            </a:r>
            <a:endParaRPr lang="en-US" sz="1800" dirty="0"/>
          </a:p>
        </p:txBody>
      </p:sp>
      <p:sp>
        <p:nvSpPr>
          <p:cNvPr id="8" name="Text 6"/>
          <p:cNvSpPr/>
          <p:nvPr/>
        </p:nvSpPr>
        <p:spPr>
          <a:xfrm>
            <a:off x="4754880" y="1828800"/>
            <a:ext cx="3474720" cy="365760"/>
          </a:xfrm>
          <a:prstGeom prst="rect">
            <a:avLst/>
          </a:prstGeom>
          <a:noFill/>
          <a:ln/>
        </p:spPr>
        <p:txBody>
          <a:bodyPr wrap="square" lIns="0" tIns="0" rIns="0" bIns="0" rtlCol="0" anchor="ctr"/>
          <a:lstStyle/>
          <a:p>
            <a:pPr algn="ctr" indent="0" marL="0">
              <a:buNone/>
            </a:pPr>
            <a:r>
              <a:rPr lang="en-US" sz="1000" dirty="0">
                <a:solidFill>
                  <a:srgbClr val="6B7B9A"/>
                </a:solidFill>
                <a:latin typeface="Calibri" pitchFamily="34" charset="0"/>
                <a:ea typeface="Calibri" pitchFamily="34" charset="-122"/>
                <a:cs typeface="Calibri" pitchFamily="34" charset="-120"/>
              </a:rPr>
              <a:t>طالب — برنامج إعداد معلم الحاسب الآلي</a:t>
            </a:r>
            <a:endParaRPr lang="en-US" sz="1000" dirty="0"/>
          </a:p>
        </p:txBody>
      </p:sp>
      <p:sp>
        <p:nvSpPr>
          <p:cNvPr id="9" name="Shape 7"/>
          <p:cNvSpPr/>
          <p:nvPr/>
        </p:nvSpPr>
        <p:spPr>
          <a:xfrm>
            <a:off x="914400" y="2651760"/>
            <a:ext cx="3474720" cy="1005840"/>
          </a:xfrm>
          <a:prstGeom prst="roundRect">
            <a:avLst>
              <a:gd name="adj" fmla="val 9091"/>
            </a:avLst>
          </a:prstGeom>
          <a:solidFill>
            <a:srgbClr val="FFFFFF"/>
          </a:solidFill>
          <a:ln/>
          <a:effectLst>
            <a:outerShdw sx="100000" sy="100000" kx="0" ky="0" algn="bl" rotWithShape="0" blurRad="101600" dist="38100" dir="2700000">
              <a:srgbClr val="000000">
                <a:alpha val="18000"/>
              </a:srgbClr>
            </a:outerShdw>
          </a:effectLst>
        </p:spPr>
      </p:sp>
      <p:sp>
        <p:nvSpPr>
          <p:cNvPr id="10" name="Text 8"/>
          <p:cNvSpPr/>
          <p:nvPr/>
        </p:nvSpPr>
        <p:spPr>
          <a:xfrm>
            <a:off x="914400" y="2651760"/>
            <a:ext cx="3474720" cy="640080"/>
          </a:xfrm>
          <a:prstGeom prst="rect">
            <a:avLst/>
          </a:prstGeom>
          <a:noFill/>
          <a:ln/>
        </p:spPr>
        <p:txBody>
          <a:bodyPr wrap="square" lIns="0" tIns="0" rIns="0" bIns="0" rtlCol="0" anchor="b"/>
          <a:lstStyle/>
          <a:p>
            <a:pPr algn="ctr" indent="0" marL="0">
              <a:buNone/>
            </a:pPr>
            <a:r>
              <a:rPr lang="en-US" sz="1800" b="1" dirty="0">
                <a:solidFill>
                  <a:srgbClr val="1B2A4A"/>
                </a:solidFill>
                <a:latin typeface="Calibri" pitchFamily="34" charset="0"/>
                <a:ea typeface="Calibri" pitchFamily="34" charset="-122"/>
                <a:cs typeface="Calibri" pitchFamily="34" charset="-120"/>
              </a:rPr>
              <a:t>يوسف محمد</a:t>
            </a:r>
            <a:endParaRPr lang="en-US" sz="1800" dirty="0"/>
          </a:p>
        </p:txBody>
      </p:sp>
      <p:sp>
        <p:nvSpPr>
          <p:cNvPr id="11" name="Text 9"/>
          <p:cNvSpPr/>
          <p:nvPr/>
        </p:nvSpPr>
        <p:spPr>
          <a:xfrm>
            <a:off x="914400" y="3200400"/>
            <a:ext cx="3474720" cy="365760"/>
          </a:xfrm>
          <a:prstGeom prst="rect">
            <a:avLst/>
          </a:prstGeom>
          <a:noFill/>
          <a:ln/>
        </p:spPr>
        <p:txBody>
          <a:bodyPr wrap="square" lIns="0" tIns="0" rIns="0" bIns="0" rtlCol="0" anchor="ctr"/>
          <a:lstStyle/>
          <a:p>
            <a:pPr algn="ctr" indent="0" marL="0">
              <a:buNone/>
            </a:pPr>
            <a:r>
              <a:rPr lang="en-US" sz="1000" dirty="0">
                <a:solidFill>
                  <a:srgbClr val="6B7B9A"/>
                </a:solidFill>
                <a:latin typeface="Calibri" pitchFamily="34" charset="0"/>
                <a:ea typeface="Calibri" pitchFamily="34" charset="-122"/>
                <a:cs typeface="Calibri" pitchFamily="34" charset="-120"/>
              </a:rPr>
              <a:t>طالب — برنامج إعداد معلم الحاسب الآلي</a:t>
            </a:r>
            <a:endParaRPr lang="en-US" sz="1000" dirty="0"/>
          </a:p>
        </p:txBody>
      </p:sp>
      <p:sp>
        <p:nvSpPr>
          <p:cNvPr id="12" name="Shape 10"/>
          <p:cNvSpPr/>
          <p:nvPr/>
        </p:nvSpPr>
        <p:spPr>
          <a:xfrm>
            <a:off x="4754880" y="2651760"/>
            <a:ext cx="3474720" cy="1005840"/>
          </a:xfrm>
          <a:prstGeom prst="roundRect">
            <a:avLst>
              <a:gd name="adj" fmla="val 9091"/>
            </a:avLst>
          </a:prstGeom>
          <a:solidFill>
            <a:srgbClr val="FFFFFF"/>
          </a:solidFill>
          <a:ln/>
          <a:effectLst>
            <a:outerShdw sx="100000" sy="100000" kx="0" ky="0" algn="bl" rotWithShape="0" blurRad="101600" dist="38100" dir="2700000">
              <a:srgbClr val="000000">
                <a:alpha val="18000"/>
              </a:srgbClr>
            </a:outerShdw>
          </a:effectLst>
        </p:spPr>
      </p:sp>
      <p:sp>
        <p:nvSpPr>
          <p:cNvPr id="13" name="Text 11"/>
          <p:cNvSpPr/>
          <p:nvPr/>
        </p:nvSpPr>
        <p:spPr>
          <a:xfrm>
            <a:off x="4754880" y="2651760"/>
            <a:ext cx="3474720" cy="640080"/>
          </a:xfrm>
          <a:prstGeom prst="rect">
            <a:avLst/>
          </a:prstGeom>
          <a:noFill/>
          <a:ln/>
        </p:spPr>
        <p:txBody>
          <a:bodyPr wrap="square" lIns="0" tIns="0" rIns="0" bIns="0" rtlCol="0" anchor="b"/>
          <a:lstStyle/>
          <a:p>
            <a:pPr algn="ctr" indent="0" marL="0">
              <a:buNone/>
            </a:pPr>
            <a:r>
              <a:rPr lang="en-US" sz="1800" b="1" dirty="0">
                <a:solidFill>
                  <a:srgbClr val="1B2A4A"/>
                </a:solidFill>
                <a:latin typeface="Calibri" pitchFamily="34" charset="0"/>
                <a:ea typeface="Calibri" pitchFamily="34" charset="-122"/>
                <a:cs typeface="Calibri" pitchFamily="34" charset="-120"/>
              </a:rPr>
              <a:t>عبدالرحمن علي</a:t>
            </a:r>
            <a:endParaRPr lang="en-US" sz="1800" dirty="0"/>
          </a:p>
        </p:txBody>
      </p:sp>
      <p:sp>
        <p:nvSpPr>
          <p:cNvPr id="14" name="Text 12"/>
          <p:cNvSpPr/>
          <p:nvPr/>
        </p:nvSpPr>
        <p:spPr>
          <a:xfrm>
            <a:off x="4754880" y="3200400"/>
            <a:ext cx="3474720" cy="365760"/>
          </a:xfrm>
          <a:prstGeom prst="rect">
            <a:avLst/>
          </a:prstGeom>
          <a:noFill/>
          <a:ln/>
        </p:spPr>
        <p:txBody>
          <a:bodyPr wrap="square" lIns="0" tIns="0" rIns="0" bIns="0" rtlCol="0" anchor="ctr"/>
          <a:lstStyle/>
          <a:p>
            <a:pPr algn="ctr" indent="0" marL="0">
              <a:buNone/>
            </a:pPr>
            <a:r>
              <a:rPr lang="en-US" sz="1000" dirty="0">
                <a:solidFill>
                  <a:srgbClr val="6B7B9A"/>
                </a:solidFill>
                <a:latin typeface="Calibri" pitchFamily="34" charset="0"/>
                <a:ea typeface="Calibri" pitchFamily="34" charset="-122"/>
                <a:cs typeface="Calibri" pitchFamily="34" charset="-120"/>
              </a:rPr>
              <a:t>طالب — برنامج إعداد معلم الحاسب الآلي</a:t>
            </a:r>
            <a:endParaRPr lang="en-US" sz="1000" dirty="0"/>
          </a:p>
        </p:txBody>
      </p:sp>
      <p:sp>
        <p:nvSpPr>
          <p:cNvPr id="15" name="Text 13"/>
          <p:cNvSpPr/>
          <p:nvPr/>
        </p:nvSpPr>
        <p:spPr>
          <a:xfrm>
            <a:off x="457200" y="3931920"/>
            <a:ext cx="8229600" cy="365760"/>
          </a:xfrm>
          <a:prstGeom prst="rect">
            <a:avLst/>
          </a:prstGeom>
          <a:noFill/>
          <a:ln/>
        </p:spPr>
        <p:txBody>
          <a:bodyPr wrap="square" rtlCol="0" anchor="ctr"/>
          <a:lstStyle/>
          <a:p>
            <a:pPr algn="ctr" indent="0" marL="0">
              <a:buNone/>
            </a:pPr>
            <a:r>
              <a:rPr lang="en-US" sz="1600" b="1" dirty="0">
                <a:solidFill>
                  <a:srgbClr val="F5A623"/>
                </a:solidFill>
                <a:latin typeface="Calibri" pitchFamily="34" charset="0"/>
                <a:ea typeface="Calibri" pitchFamily="34" charset="-122"/>
                <a:cs typeface="Calibri" pitchFamily="34" charset="-120"/>
              </a:rPr>
              <a:t>الإشراف الأكاديمي</a:t>
            </a:r>
            <a:endParaRPr lang="en-US" sz="1600" dirty="0"/>
          </a:p>
        </p:txBody>
      </p:sp>
      <p:sp>
        <p:nvSpPr>
          <p:cNvPr id="16" name="Text 14"/>
          <p:cNvSpPr/>
          <p:nvPr/>
        </p:nvSpPr>
        <p:spPr>
          <a:xfrm>
            <a:off x="457200" y="4297680"/>
            <a:ext cx="8229600" cy="320040"/>
          </a:xfrm>
          <a:prstGeom prst="rect">
            <a:avLst/>
          </a:prstGeom>
          <a:noFill/>
          <a:ln/>
        </p:spPr>
        <p:txBody>
          <a:bodyPr wrap="square" rtlCol="0" anchor="ctr"/>
          <a:lstStyle/>
          <a:p>
            <a:pPr algn="ctr" indent="0" marL="0">
              <a:buNone/>
            </a:pPr>
            <a:r>
              <a:rPr lang="en-US" sz="1300" dirty="0">
                <a:solidFill>
                  <a:srgbClr val="1B2A4A"/>
                </a:solidFill>
                <a:latin typeface="Calibri" pitchFamily="34" charset="0"/>
                <a:ea typeface="Calibri" pitchFamily="34" charset="-122"/>
                <a:cs typeface="Calibri" pitchFamily="34" charset="-120"/>
              </a:rPr>
              <a:t>تحت إشراف أ.د/ ...    |    م/ ...</a:t>
            </a:r>
            <a:endParaRPr lang="en-US" sz="1300" dirty="0"/>
          </a:p>
        </p:txBody>
      </p:sp>
      <p:sp>
        <p:nvSpPr>
          <p:cNvPr id="17" name="Text 15"/>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2 / 20</a:t>
            </a:r>
            <a:endParaRPr lang="en-US" sz="900" dirty="0"/>
          </a:p>
        </p:txBody>
      </p:sp>
      <p:pic>
        <p:nvPicPr>
          <p:cNvPr id="18"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algn="ctr" indent="0" marL="0">
              <a:buNone/>
            </a:pPr>
            <a:r>
              <a:rPr lang="en-US" sz="3600" b="1" dirty="0">
                <a:solidFill>
                  <a:srgbClr val="1B2A4A"/>
                </a:solidFill>
                <a:latin typeface="Calibri" pitchFamily="34" charset="0"/>
                <a:ea typeface="Calibri" pitchFamily="34" charset="-122"/>
                <a:cs typeface="Calibri" pitchFamily="34" charset="-120"/>
              </a:rPr>
              <a:t>محاور العرض</a:t>
            </a:r>
            <a:endParaRPr lang="en-US" sz="3600" dirty="0"/>
          </a:p>
        </p:txBody>
      </p:sp>
      <p:sp>
        <p:nvSpPr>
          <p:cNvPr id="3" name="Text 1"/>
          <p:cNvSpPr/>
          <p:nvPr/>
        </p:nvSpPr>
        <p:spPr>
          <a:xfrm>
            <a:off x="731520" y="1188720"/>
            <a:ext cx="502920" cy="502920"/>
          </a:xfrm>
          <a:prstGeom prst="ellipse">
            <a:avLst/>
          </a:prstGeom>
          <a:solidFill>
            <a:srgbClr val="1B2A4A"/>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4" name="Text 2"/>
          <p:cNvSpPr/>
          <p:nvPr/>
        </p:nvSpPr>
        <p:spPr>
          <a:xfrm>
            <a:off x="1325880" y="1188720"/>
            <a:ext cx="3291840" cy="502920"/>
          </a:xfrm>
          <a:prstGeom prst="rect">
            <a:avLst/>
          </a:prstGeom>
          <a:noFill/>
          <a:ln/>
        </p:spPr>
        <p:txBody>
          <a:bodyPr wrap="square" lIns="0" tIns="0" rIns="0" bIns="0" rtlCol="0" anchor="ctr"/>
          <a:lstStyle/>
          <a:p>
            <a:pPr indent="0" marL="0">
              <a:buNone/>
            </a:pPr>
            <a:r>
              <a:rPr lang="en-US" sz="1400" dirty="0">
                <a:solidFill>
                  <a:srgbClr val="2D3748"/>
                </a:solidFill>
                <a:latin typeface="Calibri" pitchFamily="34" charset="0"/>
                <a:ea typeface="Calibri" pitchFamily="34" charset="-122"/>
                <a:cs typeface="Calibri" pitchFamily="34" charset="-120"/>
              </a:rPr>
              <a:t>المشكلة والدافع</a:t>
            </a:r>
            <a:endParaRPr lang="en-US" sz="1400" dirty="0"/>
          </a:p>
        </p:txBody>
      </p:sp>
      <p:sp>
        <p:nvSpPr>
          <p:cNvPr id="5" name="Text 3"/>
          <p:cNvSpPr/>
          <p:nvPr/>
        </p:nvSpPr>
        <p:spPr>
          <a:xfrm>
            <a:off x="731520" y="1901952"/>
            <a:ext cx="502920" cy="502920"/>
          </a:xfrm>
          <a:prstGeom prst="ellipse">
            <a:avLst/>
          </a:prstGeom>
          <a:solidFill>
            <a:srgbClr val="1B2A4A"/>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6" name="Text 4"/>
          <p:cNvSpPr/>
          <p:nvPr/>
        </p:nvSpPr>
        <p:spPr>
          <a:xfrm>
            <a:off x="1325880" y="1901952"/>
            <a:ext cx="3291840" cy="502920"/>
          </a:xfrm>
          <a:prstGeom prst="rect">
            <a:avLst/>
          </a:prstGeom>
          <a:noFill/>
          <a:ln/>
        </p:spPr>
        <p:txBody>
          <a:bodyPr wrap="square" lIns="0" tIns="0" rIns="0" bIns="0" rtlCol="0" anchor="ctr"/>
          <a:lstStyle/>
          <a:p>
            <a:pPr indent="0" marL="0">
              <a:buNone/>
            </a:pPr>
            <a:r>
              <a:rPr lang="en-US" sz="1400" dirty="0">
                <a:solidFill>
                  <a:srgbClr val="2D3748"/>
                </a:solidFill>
                <a:latin typeface="Calibri" pitchFamily="34" charset="0"/>
                <a:ea typeface="Calibri" pitchFamily="34" charset="-122"/>
                <a:cs typeface="Calibri" pitchFamily="34" charset="-120"/>
              </a:rPr>
              <a:t>فلسفة InsightEdu — الأربع ركائز</a:t>
            </a:r>
            <a:endParaRPr lang="en-US" sz="1400" dirty="0"/>
          </a:p>
        </p:txBody>
      </p:sp>
      <p:sp>
        <p:nvSpPr>
          <p:cNvPr id="7" name="Text 5"/>
          <p:cNvSpPr/>
          <p:nvPr/>
        </p:nvSpPr>
        <p:spPr>
          <a:xfrm>
            <a:off x="731520" y="2615184"/>
            <a:ext cx="502920" cy="502920"/>
          </a:xfrm>
          <a:prstGeom prst="ellipse">
            <a:avLst/>
          </a:prstGeom>
          <a:solidFill>
            <a:srgbClr val="1B2A4A"/>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8" name="Text 6"/>
          <p:cNvSpPr/>
          <p:nvPr/>
        </p:nvSpPr>
        <p:spPr>
          <a:xfrm>
            <a:off x="1325880" y="2615184"/>
            <a:ext cx="3291840" cy="502920"/>
          </a:xfrm>
          <a:prstGeom prst="rect">
            <a:avLst/>
          </a:prstGeom>
          <a:noFill/>
          <a:ln/>
        </p:spPr>
        <p:txBody>
          <a:bodyPr wrap="square" lIns="0" tIns="0" rIns="0" bIns="0" rtlCol="0" anchor="ctr"/>
          <a:lstStyle/>
          <a:p>
            <a:pPr indent="0" marL="0">
              <a:buNone/>
            </a:pPr>
            <a:r>
              <a:rPr lang="en-US" sz="1400" dirty="0">
                <a:solidFill>
                  <a:srgbClr val="2D3748"/>
                </a:solidFill>
                <a:latin typeface="Calibri" pitchFamily="34" charset="0"/>
                <a:ea typeface="Calibri" pitchFamily="34" charset="-122"/>
                <a:cs typeface="Calibri" pitchFamily="34" charset="-120"/>
              </a:rPr>
              <a:t>بنية النظام (System Architecture)</a:t>
            </a:r>
            <a:endParaRPr lang="en-US" sz="1400" dirty="0"/>
          </a:p>
        </p:txBody>
      </p:sp>
      <p:sp>
        <p:nvSpPr>
          <p:cNvPr id="9" name="Text 7"/>
          <p:cNvSpPr/>
          <p:nvPr/>
        </p:nvSpPr>
        <p:spPr>
          <a:xfrm>
            <a:off x="731520" y="3328416"/>
            <a:ext cx="502920" cy="502920"/>
          </a:xfrm>
          <a:prstGeom prst="ellipse">
            <a:avLst/>
          </a:prstGeom>
          <a:solidFill>
            <a:srgbClr val="1B2A4A"/>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0" name="Text 8"/>
          <p:cNvSpPr/>
          <p:nvPr/>
        </p:nvSpPr>
        <p:spPr>
          <a:xfrm>
            <a:off x="1325880" y="3328416"/>
            <a:ext cx="3291840" cy="502920"/>
          </a:xfrm>
          <a:prstGeom prst="rect">
            <a:avLst/>
          </a:prstGeom>
          <a:noFill/>
          <a:ln/>
        </p:spPr>
        <p:txBody>
          <a:bodyPr wrap="square" lIns="0" tIns="0" rIns="0" bIns="0" rtlCol="0" anchor="ctr"/>
          <a:lstStyle/>
          <a:p>
            <a:pPr indent="0" marL="0">
              <a:buNone/>
            </a:pPr>
            <a:r>
              <a:rPr lang="en-US" sz="1400" dirty="0">
                <a:solidFill>
                  <a:srgbClr val="2D3748"/>
                </a:solidFill>
                <a:latin typeface="Calibri" pitchFamily="34" charset="0"/>
                <a:ea typeface="Calibri" pitchFamily="34" charset="-122"/>
                <a:cs typeface="Calibri" pitchFamily="34" charset="-120"/>
              </a:rPr>
              <a:t>التعرف على الوجه بالذكاء الاصطناعي</a:t>
            </a:r>
            <a:endParaRPr lang="en-US" sz="1400" dirty="0"/>
          </a:p>
        </p:txBody>
      </p:sp>
      <p:sp>
        <p:nvSpPr>
          <p:cNvPr id="11" name="Text 9"/>
          <p:cNvSpPr/>
          <p:nvPr/>
        </p:nvSpPr>
        <p:spPr>
          <a:xfrm>
            <a:off x="731520" y="4041648"/>
            <a:ext cx="502920" cy="502920"/>
          </a:xfrm>
          <a:prstGeom prst="ellipse">
            <a:avLst/>
          </a:prstGeom>
          <a:solidFill>
            <a:srgbClr val="1B2A4A"/>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12" name="Text 10"/>
          <p:cNvSpPr/>
          <p:nvPr/>
        </p:nvSpPr>
        <p:spPr>
          <a:xfrm>
            <a:off x="1325880" y="4041648"/>
            <a:ext cx="3291840" cy="502920"/>
          </a:xfrm>
          <a:prstGeom prst="rect">
            <a:avLst/>
          </a:prstGeom>
          <a:noFill/>
          <a:ln/>
        </p:spPr>
        <p:txBody>
          <a:bodyPr wrap="square" lIns="0" tIns="0" rIns="0" bIns="0" rtlCol="0" anchor="ctr"/>
          <a:lstStyle/>
          <a:p>
            <a:pPr indent="0" marL="0">
              <a:buNone/>
            </a:pPr>
            <a:r>
              <a:rPr lang="en-US" sz="1400" dirty="0">
                <a:solidFill>
                  <a:srgbClr val="2D3748"/>
                </a:solidFill>
                <a:latin typeface="Calibri" pitchFamily="34" charset="0"/>
                <a:ea typeface="Calibri" pitchFamily="34" charset="-122"/>
                <a:cs typeface="Calibri" pitchFamily="34" charset="-120"/>
              </a:rPr>
              <a:t>تصميم الأجهزة (Hardware)</a:t>
            </a:r>
            <a:endParaRPr lang="en-US" sz="1400" dirty="0"/>
          </a:p>
        </p:txBody>
      </p:sp>
      <p:sp>
        <p:nvSpPr>
          <p:cNvPr id="13" name="Text 11"/>
          <p:cNvSpPr/>
          <p:nvPr/>
        </p:nvSpPr>
        <p:spPr>
          <a:xfrm>
            <a:off x="4937760" y="1188720"/>
            <a:ext cx="502920" cy="502920"/>
          </a:xfrm>
          <a:prstGeom prst="ellipse">
            <a:avLst/>
          </a:prstGeom>
          <a:solidFill>
            <a:srgbClr val="1B2A4A"/>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14" name="Text 12"/>
          <p:cNvSpPr/>
          <p:nvPr/>
        </p:nvSpPr>
        <p:spPr>
          <a:xfrm>
            <a:off x="5532120" y="1188720"/>
            <a:ext cx="3291840" cy="502920"/>
          </a:xfrm>
          <a:prstGeom prst="rect">
            <a:avLst/>
          </a:prstGeom>
          <a:noFill/>
          <a:ln/>
        </p:spPr>
        <p:txBody>
          <a:bodyPr wrap="square" lIns="0" tIns="0" rIns="0" bIns="0" rtlCol="0" anchor="ctr"/>
          <a:lstStyle/>
          <a:p>
            <a:pPr indent="0" marL="0">
              <a:buNone/>
            </a:pPr>
            <a:r>
              <a:rPr lang="en-US" sz="1400" dirty="0">
                <a:solidFill>
                  <a:srgbClr val="2D3748"/>
                </a:solidFill>
                <a:latin typeface="Calibri" pitchFamily="34" charset="0"/>
                <a:ea typeface="Calibri" pitchFamily="34" charset="-122"/>
                <a:cs typeface="Calibri" pitchFamily="34" charset="-120"/>
              </a:rPr>
              <a:t>نظام الامتحانات (OCR)</a:t>
            </a:r>
            <a:endParaRPr lang="en-US" sz="1400" dirty="0"/>
          </a:p>
        </p:txBody>
      </p:sp>
      <p:sp>
        <p:nvSpPr>
          <p:cNvPr id="15" name="Text 13"/>
          <p:cNvSpPr/>
          <p:nvPr/>
        </p:nvSpPr>
        <p:spPr>
          <a:xfrm>
            <a:off x="4937760" y="1901952"/>
            <a:ext cx="502920" cy="502920"/>
          </a:xfrm>
          <a:prstGeom prst="ellipse">
            <a:avLst/>
          </a:prstGeom>
          <a:solidFill>
            <a:srgbClr val="1B2A4A"/>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16" name="Text 14"/>
          <p:cNvSpPr/>
          <p:nvPr/>
        </p:nvSpPr>
        <p:spPr>
          <a:xfrm>
            <a:off x="5532120" y="1901952"/>
            <a:ext cx="3291840" cy="502920"/>
          </a:xfrm>
          <a:prstGeom prst="rect">
            <a:avLst/>
          </a:prstGeom>
          <a:noFill/>
          <a:ln/>
        </p:spPr>
        <p:txBody>
          <a:bodyPr wrap="square" lIns="0" tIns="0" rIns="0" bIns="0" rtlCol="0" anchor="ctr"/>
          <a:lstStyle/>
          <a:p>
            <a:pPr indent="0" marL="0">
              <a:buNone/>
            </a:pPr>
            <a:r>
              <a:rPr lang="en-US" sz="1400" dirty="0">
                <a:solidFill>
                  <a:srgbClr val="2D3748"/>
                </a:solidFill>
                <a:latin typeface="Calibri" pitchFamily="34" charset="0"/>
                <a:ea typeface="Calibri" pitchFamily="34" charset="-122"/>
                <a:cs typeface="Calibri" pitchFamily="34" charset="-120"/>
              </a:rPr>
              <a:t>المنصة التعليمية (Web Platform)</a:t>
            </a:r>
            <a:endParaRPr lang="en-US" sz="1400" dirty="0"/>
          </a:p>
        </p:txBody>
      </p:sp>
      <p:sp>
        <p:nvSpPr>
          <p:cNvPr id="17" name="Text 15"/>
          <p:cNvSpPr/>
          <p:nvPr/>
        </p:nvSpPr>
        <p:spPr>
          <a:xfrm>
            <a:off x="4937760" y="2615184"/>
            <a:ext cx="502920" cy="502920"/>
          </a:xfrm>
          <a:prstGeom prst="ellipse">
            <a:avLst/>
          </a:prstGeom>
          <a:solidFill>
            <a:srgbClr val="1B2A4A"/>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18" name="Text 16"/>
          <p:cNvSpPr/>
          <p:nvPr/>
        </p:nvSpPr>
        <p:spPr>
          <a:xfrm>
            <a:off x="5532120" y="2615184"/>
            <a:ext cx="3291840" cy="502920"/>
          </a:xfrm>
          <a:prstGeom prst="rect">
            <a:avLst/>
          </a:prstGeom>
          <a:noFill/>
          <a:ln/>
        </p:spPr>
        <p:txBody>
          <a:bodyPr wrap="square" lIns="0" tIns="0" rIns="0" bIns="0" rtlCol="0" anchor="ctr"/>
          <a:lstStyle/>
          <a:p>
            <a:pPr indent="0" marL="0">
              <a:buNone/>
            </a:pPr>
            <a:r>
              <a:rPr lang="en-US" sz="1400" dirty="0">
                <a:solidFill>
                  <a:srgbClr val="2D3748"/>
                </a:solidFill>
                <a:latin typeface="Calibri" pitchFamily="34" charset="0"/>
                <a:ea typeface="Calibri" pitchFamily="34" charset="-122"/>
                <a:cs typeface="Calibri" pitchFamily="34" charset="-120"/>
              </a:rPr>
              <a:t>تحليل المخاطر (Student Insights)</a:t>
            </a:r>
            <a:endParaRPr lang="en-US" sz="1400" dirty="0"/>
          </a:p>
        </p:txBody>
      </p:sp>
      <p:sp>
        <p:nvSpPr>
          <p:cNvPr id="19" name="Text 17"/>
          <p:cNvSpPr/>
          <p:nvPr/>
        </p:nvSpPr>
        <p:spPr>
          <a:xfrm>
            <a:off x="4937760" y="3328416"/>
            <a:ext cx="502920" cy="502920"/>
          </a:xfrm>
          <a:prstGeom prst="ellipse">
            <a:avLst/>
          </a:prstGeom>
          <a:solidFill>
            <a:srgbClr val="1B2A4A"/>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a:t>
            </a:r>
            <a:endParaRPr lang="en-US" sz="1400" dirty="0"/>
          </a:p>
        </p:txBody>
      </p:sp>
      <p:sp>
        <p:nvSpPr>
          <p:cNvPr id="20" name="Text 18"/>
          <p:cNvSpPr/>
          <p:nvPr/>
        </p:nvSpPr>
        <p:spPr>
          <a:xfrm>
            <a:off x="5532120" y="3328416"/>
            <a:ext cx="3291840" cy="502920"/>
          </a:xfrm>
          <a:prstGeom prst="rect">
            <a:avLst/>
          </a:prstGeom>
          <a:noFill/>
          <a:ln/>
        </p:spPr>
        <p:txBody>
          <a:bodyPr wrap="square" lIns="0" tIns="0" rIns="0" bIns="0" rtlCol="0" anchor="ctr"/>
          <a:lstStyle/>
          <a:p>
            <a:pPr indent="0" marL="0">
              <a:buNone/>
            </a:pPr>
            <a:r>
              <a:rPr lang="en-US" sz="1400" dirty="0">
                <a:solidFill>
                  <a:srgbClr val="2D3748"/>
                </a:solidFill>
                <a:latin typeface="Calibri" pitchFamily="34" charset="0"/>
                <a:ea typeface="Calibri" pitchFamily="34" charset="-122"/>
                <a:cs typeface="Calibri" pitchFamily="34" charset="-120"/>
              </a:rPr>
              <a:t>النتائج والتقييم</a:t>
            </a:r>
            <a:endParaRPr lang="en-US" sz="1400" dirty="0"/>
          </a:p>
        </p:txBody>
      </p:sp>
      <p:sp>
        <p:nvSpPr>
          <p:cNvPr id="21" name="Text 19"/>
          <p:cNvSpPr/>
          <p:nvPr/>
        </p:nvSpPr>
        <p:spPr>
          <a:xfrm>
            <a:off x="4937760" y="4041648"/>
            <a:ext cx="502920" cy="502920"/>
          </a:xfrm>
          <a:prstGeom prst="ellipse">
            <a:avLst/>
          </a:prstGeom>
          <a:solidFill>
            <a:srgbClr val="1B2A4A"/>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22" name="Text 20"/>
          <p:cNvSpPr/>
          <p:nvPr/>
        </p:nvSpPr>
        <p:spPr>
          <a:xfrm>
            <a:off x="5532120" y="4041648"/>
            <a:ext cx="3291840" cy="502920"/>
          </a:xfrm>
          <a:prstGeom prst="rect">
            <a:avLst/>
          </a:prstGeom>
          <a:noFill/>
          <a:ln/>
        </p:spPr>
        <p:txBody>
          <a:bodyPr wrap="square" lIns="0" tIns="0" rIns="0" bIns="0" rtlCol="0" anchor="ctr"/>
          <a:lstStyle/>
          <a:p>
            <a:pPr indent="0" marL="0">
              <a:buNone/>
            </a:pPr>
            <a:r>
              <a:rPr lang="en-US" sz="1400" dirty="0">
                <a:solidFill>
                  <a:srgbClr val="2D3748"/>
                </a:solidFill>
                <a:latin typeface="Calibri" pitchFamily="34" charset="0"/>
                <a:ea typeface="Calibri" pitchFamily="34" charset="-122"/>
                <a:cs typeface="Calibri" pitchFamily="34" charset="-120"/>
              </a:rPr>
              <a:t>العمل المستقبلي</a:t>
            </a:r>
            <a:endParaRPr lang="en-US" sz="1400" dirty="0"/>
          </a:p>
        </p:txBody>
      </p:sp>
      <p:sp>
        <p:nvSpPr>
          <p:cNvPr id="23" name="Text 21"/>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3 / 20</a:t>
            </a:r>
            <a:endParaRPr lang="en-US" sz="900" dirty="0"/>
          </a:p>
        </p:txBody>
      </p:sp>
      <p:pic>
        <p:nvPicPr>
          <p:cNvPr id="24"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المشكلة: 5 نقاط عمى في التعليم التقليدي</a:t>
            </a:r>
            <a:endParaRPr lang="en-US" sz="2800" dirty="0"/>
          </a:p>
        </p:txBody>
      </p:sp>
      <p:sp>
        <p:nvSpPr>
          <p:cNvPr id="3" name="Shape 1"/>
          <p:cNvSpPr/>
          <p:nvPr/>
        </p:nvSpPr>
        <p:spPr>
          <a:xfrm>
            <a:off x="731520" y="1051560"/>
            <a:ext cx="7680960" cy="640080"/>
          </a:xfrm>
          <a:prstGeom prst="roundRect">
            <a:avLst>
              <a:gd name="adj" fmla="val 11429"/>
            </a:avLst>
          </a:prstGeom>
          <a:solidFill>
            <a:srgbClr val="1B2A4A"/>
          </a:solidFill>
          <a:ln/>
        </p:spPr>
      </p:sp>
      <p:sp>
        <p:nvSpPr>
          <p:cNvPr id="4" name="Text 2"/>
          <p:cNvSpPr/>
          <p:nvPr/>
        </p:nvSpPr>
        <p:spPr>
          <a:xfrm>
            <a:off x="914400" y="1051560"/>
            <a:ext cx="2011680" cy="640080"/>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عمى الهوية</a:t>
            </a:r>
            <a:endParaRPr lang="en-US" sz="1600" dirty="0"/>
          </a:p>
        </p:txBody>
      </p:sp>
      <p:sp>
        <p:nvSpPr>
          <p:cNvPr id="5" name="Text 3"/>
          <p:cNvSpPr/>
          <p:nvPr/>
        </p:nvSpPr>
        <p:spPr>
          <a:xfrm>
            <a:off x="2926080" y="1051560"/>
            <a:ext cx="530352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مين الطالب ده أصلاً؟ — تسجيل حضور يدوي قابل للتزوير</a:t>
            </a:r>
            <a:endParaRPr lang="en-US" sz="1300" dirty="0"/>
          </a:p>
        </p:txBody>
      </p:sp>
      <p:sp>
        <p:nvSpPr>
          <p:cNvPr id="6" name="Shape 4"/>
          <p:cNvSpPr/>
          <p:nvPr/>
        </p:nvSpPr>
        <p:spPr>
          <a:xfrm>
            <a:off x="731520" y="1828800"/>
            <a:ext cx="7680960" cy="640080"/>
          </a:xfrm>
          <a:prstGeom prst="roundRect">
            <a:avLst>
              <a:gd name="adj" fmla="val 11429"/>
            </a:avLst>
          </a:prstGeom>
          <a:solidFill>
            <a:srgbClr val="1B2A4A"/>
          </a:solidFill>
          <a:ln/>
        </p:spPr>
      </p:sp>
      <p:sp>
        <p:nvSpPr>
          <p:cNvPr id="7" name="Text 5"/>
          <p:cNvSpPr/>
          <p:nvPr/>
        </p:nvSpPr>
        <p:spPr>
          <a:xfrm>
            <a:off x="914400" y="1828800"/>
            <a:ext cx="2011680" cy="640080"/>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عمى الأداء</a:t>
            </a:r>
            <a:endParaRPr lang="en-US" sz="1600" dirty="0"/>
          </a:p>
        </p:txBody>
      </p:sp>
      <p:sp>
        <p:nvSpPr>
          <p:cNvPr id="8" name="Text 6"/>
          <p:cNvSpPr/>
          <p:nvPr/>
        </p:nvSpPr>
        <p:spPr>
          <a:xfrm>
            <a:off x="2926080" y="1828800"/>
            <a:ext cx="530352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مش عارف الطالب ماشي صح ولا لأ — تصحيح يدوي بطيء وغير دقيق</a:t>
            </a:r>
            <a:endParaRPr lang="en-US" sz="1300" dirty="0"/>
          </a:p>
        </p:txBody>
      </p:sp>
      <p:sp>
        <p:nvSpPr>
          <p:cNvPr id="9" name="Shape 7"/>
          <p:cNvSpPr/>
          <p:nvPr/>
        </p:nvSpPr>
        <p:spPr>
          <a:xfrm>
            <a:off x="731520" y="2606040"/>
            <a:ext cx="7680960" cy="640080"/>
          </a:xfrm>
          <a:prstGeom prst="roundRect">
            <a:avLst>
              <a:gd name="adj" fmla="val 11429"/>
            </a:avLst>
          </a:prstGeom>
          <a:solidFill>
            <a:srgbClr val="1B2A4A"/>
          </a:solidFill>
          <a:ln/>
        </p:spPr>
      </p:sp>
      <p:sp>
        <p:nvSpPr>
          <p:cNvPr id="10" name="Text 8"/>
          <p:cNvSpPr/>
          <p:nvPr/>
        </p:nvSpPr>
        <p:spPr>
          <a:xfrm>
            <a:off x="914400" y="2606040"/>
            <a:ext cx="2011680" cy="640080"/>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عمى المخاطر</a:t>
            </a:r>
            <a:endParaRPr lang="en-US" sz="1600" dirty="0"/>
          </a:p>
        </p:txBody>
      </p:sp>
      <p:sp>
        <p:nvSpPr>
          <p:cNvPr id="11" name="Text 9"/>
          <p:cNvSpPr/>
          <p:nvPr/>
        </p:nvSpPr>
        <p:spPr>
          <a:xfrm>
            <a:off x="2926080" y="2606040"/>
            <a:ext cx="530352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مبنعرفش إن الطالب في خطر غير بعد ما يرسب</a:t>
            </a:r>
            <a:endParaRPr lang="en-US" sz="1300" dirty="0"/>
          </a:p>
        </p:txBody>
      </p:sp>
      <p:sp>
        <p:nvSpPr>
          <p:cNvPr id="12" name="Shape 10"/>
          <p:cNvSpPr/>
          <p:nvPr/>
        </p:nvSpPr>
        <p:spPr>
          <a:xfrm>
            <a:off x="731520" y="3383280"/>
            <a:ext cx="7680960" cy="640080"/>
          </a:xfrm>
          <a:prstGeom prst="roundRect">
            <a:avLst>
              <a:gd name="adj" fmla="val 11429"/>
            </a:avLst>
          </a:prstGeom>
          <a:solidFill>
            <a:srgbClr val="1B2A4A"/>
          </a:solidFill>
          <a:ln/>
        </p:spPr>
      </p:sp>
      <p:sp>
        <p:nvSpPr>
          <p:cNvPr id="13" name="Text 11"/>
          <p:cNvSpPr/>
          <p:nvPr/>
        </p:nvSpPr>
        <p:spPr>
          <a:xfrm>
            <a:off x="914400" y="3383280"/>
            <a:ext cx="2011680" cy="640080"/>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عمى التواصل</a:t>
            </a:r>
            <a:endParaRPr lang="en-US" sz="1600" dirty="0"/>
          </a:p>
        </p:txBody>
      </p:sp>
      <p:sp>
        <p:nvSpPr>
          <p:cNvPr id="14" name="Text 12"/>
          <p:cNvSpPr/>
          <p:nvPr/>
        </p:nvSpPr>
        <p:spPr>
          <a:xfrm>
            <a:off x="2926080" y="3383280"/>
            <a:ext cx="530352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مفيش قناة فعالة بين المرشد والطالب والدكتور</a:t>
            </a:r>
            <a:endParaRPr lang="en-US" sz="1300" dirty="0"/>
          </a:p>
        </p:txBody>
      </p:sp>
      <p:sp>
        <p:nvSpPr>
          <p:cNvPr id="15" name="Shape 13"/>
          <p:cNvSpPr/>
          <p:nvPr/>
        </p:nvSpPr>
        <p:spPr>
          <a:xfrm>
            <a:off x="731520" y="4160520"/>
            <a:ext cx="7680960" cy="640080"/>
          </a:xfrm>
          <a:prstGeom prst="roundRect">
            <a:avLst>
              <a:gd name="adj" fmla="val 11429"/>
            </a:avLst>
          </a:prstGeom>
          <a:solidFill>
            <a:srgbClr val="1B2A4A"/>
          </a:solidFill>
          <a:ln/>
        </p:spPr>
      </p:sp>
      <p:sp>
        <p:nvSpPr>
          <p:cNvPr id="16" name="Text 14"/>
          <p:cNvSpPr/>
          <p:nvPr/>
        </p:nvSpPr>
        <p:spPr>
          <a:xfrm>
            <a:off x="914400" y="4160520"/>
            <a:ext cx="2011680" cy="640080"/>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عمى البيانات</a:t>
            </a:r>
            <a:endParaRPr lang="en-US" sz="1600" dirty="0"/>
          </a:p>
        </p:txBody>
      </p:sp>
      <p:sp>
        <p:nvSpPr>
          <p:cNvPr id="17" name="Text 15"/>
          <p:cNvSpPr/>
          <p:nvPr/>
        </p:nvSpPr>
        <p:spPr>
          <a:xfrm>
            <a:off x="2926080" y="4160520"/>
            <a:ext cx="530352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كل حاجة ورق — ضاعت أو اتلفت مفيش حل</a:t>
            </a:r>
            <a:endParaRPr lang="en-US" sz="1300" dirty="0"/>
          </a:p>
        </p:txBody>
      </p:sp>
      <p:sp>
        <p:nvSpPr>
          <p:cNvPr id="18" name="Text 16"/>
          <p:cNvSpPr/>
          <p:nvPr/>
        </p:nvSpPr>
        <p:spPr>
          <a:xfrm>
            <a:off x="457200" y="4617720"/>
            <a:ext cx="8229600" cy="365760"/>
          </a:xfrm>
          <a:prstGeom prst="rect">
            <a:avLst/>
          </a:prstGeom>
          <a:noFill/>
          <a:ln/>
        </p:spPr>
        <p:txBody>
          <a:bodyPr wrap="square" rtlCol="0" anchor="ctr"/>
          <a:lstStyle/>
          <a:p>
            <a:pPr algn="ctr" indent="0" marL="0">
              <a:buNone/>
            </a:pPr>
            <a:r>
              <a:rPr lang="en-US" sz="1600" i="1" dirty="0">
                <a:solidFill>
                  <a:srgbClr val="F5A623"/>
                </a:solidFill>
                <a:latin typeface="Calibri" pitchFamily="34" charset="0"/>
                <a:ea typeface="Calibri" pitchFamily="34" charset="-122"/>
                <a:cs typeface="Calibri" pitchFamily="34" charset="-120"/>
              </a:rPr>
              <a:t>هل نقدر نخلي النظام التعليمي يشوف؟</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1B2A4A"/>
                </a:solidFill>
                <a:latin typeface="Calibri" pitchFamily="34" charset="0"/>
                <a:ea typeface="Calibri" pitchFamily="34" charset="-122"/>
                <a:cs typeface="Calibri" pitchFamily="34" charset="-120"/>
              </a:rPr>
              <a:t>الحل: فلسفة InsightEdu</a:t>
            </a:r>
            <a:endParaRPr lang="en-US" sz="3200" dirty="0"/>
          </a:p>
        </p:txBody>
      </p:sp>
      <p:sp>
        <p:nvSpPr>
          <p:cNvPr id="3" name="Text 1"/>
          <p:cNvSpPr/>
          <p:nvPr/>
        </p:nvSpPr>
        <p:spPr>
          <a:xfrm>
            <a:off x="457200" y="777240"/>
            <a:ext cx="8229600" cy="365760"/>
          </a:xfrm>
          <a:prstGeom prst="rect">
            <a:avLst/>
          </a:prstGeom>
          <a:noFill/>
          <a:ln/>
        </p:spPr>
        <p:txBody>
          <a:bodyPr wrap="square" rtlCol="0" anchor="ctr"/>
          <a:lstStyle/>
          <a:p>
            <a:pPr algn="ctr" indent="0" marL="0">
              <a:buNone/>
            </a:pPr>
            <a:r>
              <a:rPr lang="en-US" sz="1600" i="1" dirty="0">
                <a:solidFill>
                  <a:srgbClr val="F5A623"/>
                </a:solidFill>
                <a:latin typeface="Calibri" pitchFamily="34" charset="0"/>
                <a:ea typeface="Calibri" pitchFamily="34" charset="-122"/>
                <a:cs typeface="Calibri" pitchFamily="34" charset="-120"/>
              </a:rPr>
              <a:t>Insight + Education = رؤية تعليمية شاملة</a:t>
            </a:r>
            <a:endParaRPr lang="en-US" sz="1600" dirty="0"/>
          </a:p>
        </p:txBody>
      </p:sp>
      <p:sp>
        <p:nvSpPr>
          <p:cNvPr id="4" name="Shape 2"/>
          <p:cNvSpPr/>
          <p:nvPr/>
        </p:nvSpPr>
        <p:spPr>
          <a:xfrm>
            <a:off x="457200" y="1417320"/>
            <a:ext cx="1965960" cy="3200400"/>
          </a:xfrm>
          <a:prstGeom prst="roundRect">
            <a:avLst>
              <a:gd name="adj" fmla="val 5581"/>
            </a:avLst>
          </a:prstGeom>
          <a:solidFill>
            <a:srgbClr val="FFFFFF"/>
          </a:solidFill>
          <a:ln/>
          <a:effectLst>
            <a:outerShdw sx="100000" sy="100000" kx="0" ky="0" algn="bl" rotWithShape="0" blurRad="101600" dist="38100" dir="2700000">
              <a:srgbClr val="000000">
                <a:alpha val="18000"/>
              </a:srgbClr>
            </a:outerShdw>
          </a:effectLst>
        </p:spPr>
      </p:sp>
      <p:sp>
        <p:nvSpPr>
          <p:cNvPr id="5" name="Shape 3"/>
          <p:cNvSpPr/>
          <p:nvPr/>
        </p:nvSpPr>
        <p:spPr>
          <a:xfrm>
            <a:off x="987552" y="1691640"/>
            <a:ext cx="914400" cy="914400"/>
          </a:xfrm>
          <a:prstGeom prst="ellipse">
            <a:avLst/>
          </a:prstGeom>
          <a:solidFill>
            <a:srgbClr val="1E6F5C"/>
          </a:solidFill>
          <a:ln/>
        </p:spPr>
      </p:sp>
      <p:sp>
        <p:nvSpPr>
          <p:cNvPr id="6" name="Text 4"/>
          <p:cNvSpPr/>
          <p:nvPr/>
        </p:nvSpPr>
        <p:spPr>
          <a:xfrm>
            <a:off x="987552" y="1691640"/>
            <a:ext cx="914400" cy="9144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457200" y="2788920"/>
            <a:ext cx="1965960" cy="41148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Identity Insight</a:t>
            </a:r>
            <a:endParaRPr lang="en-US" sz="1300" dirty="0"/>
          </a:p>
        </p:txBody>
      </p:sp>
      <p:sp>
        <p:nvSpPr>
          <p:cNvPr id="8" name="Text 6"/>
          <p:cNvSpPr/>
          <p:nvPr/>
        </p:nvSpPr>
        <p:spPr>
          <a:xfrm>
            <a:off x="457200" y="3154680"/>
            <a:ext cx="1965960" cy="320040"/>
          </a:xfrm>
          <a:prstGeom prst="rect">
            <a:avLst/>
          </a:prstGeom>
          <a:noFill/>
          <a:ln/>
        </p:spPr>
        <p:txBody>
          <a:bodyPr wrap="square" lIns="0" tIns="0" rIns="0" bIns="0" rtlCol="0" anchor="ctr"/>
          <a:lstStyle/>
          <a:p>
            <a:pPr algn="ctr" indent="0" marL="0">
              <a:buNone/>
            </a:pPr>
            <a:r>
              <a:rPr lang="en-US" sz="1200" dirty="0">
                <a:solidFill>
                  <a:srgbClr val="1E6F5C"/>
                </a:solidFill>
                <a:latin typeface="Calibri" pitchFamily="34" charset="0"/>
                <a:ea typeface="Calibri" pitchFamily="34" charset="-122"/>
                <a:cs typeface="Calibri" pitchFamily="34" charset="-120"/>
              </a:rPr>
              <a:t>بصيرة الهوية</a:t>
            </a:r>
            <a:endParaRPr lang="en-US" sz="1200" dirty="0"/>
          </a:p>
        </p:txBody>
      </p:sp>
      <p:sp>
        <p:nvSpPr>
          <p:cNvPr id="9" name="Text 7"/>
          <p:cNvSpPr/>
          <p:nvPr/>
        </p:nvSpPr>
        <p:spPr>
          <a:xfrm>
            <a:off x="594360" y="3520440"/>
            <a:ext cx="1691640" cy="914400"/>
          </a:xfrm>
          <a:prstGeom prst="rect">
            <a:avLst/>
          </a:prstGeom>
          <a:noFill/>
          <a:ln/>
        </p:spPr>
        <p:txBody>
          <a:bodyPr wrap="square" lIns="0" tIns="0" rIns="0" bIns="0" rtlCol="0" anchor="t"/>
          <a:lstStyle/>
          <a:p>
            <a:pPr algn="ctr" indent="0" marL="0">
              <a:buNone/>
            </a:pPr>
            <a:r>
              <a:rPr lang="en-US" sz="1100" dirty="0">
                <a:solidFill>
                  <a:srgbClr val="2D3748"/>
                </a:solidFill>
                <a:latin typeface="Calibri" pitchFamily="34" charset="0"/>
                <a:ea typeface="Calibri" pitchFamily="34" charset="-122"/>
                <a:cs typeface="Calibri" pitchFamily="34" charset="-120"/>
              </a:rPr>
              <a:t>التعرف على الوجه + RFID — مين الطالب ده فعلاً؟</a:t>
            </a:r>
            <a:endParaRPr lang="en-US" sz="1100" dirty="0"/>
          </a:p>
        </p:txBody>
      </p:sp>
      <p:sp>
        <p:nvSpPr>
          <p:cNvPr id="10" name="Shape 8"/>
          <p:cNvSpPr/>
          <p:nvPr/>
        </p:nvSpPr>
        <p:spPr>
          <a:xfrm>
            <a:off x="2606040" y="1417320"/>
            <a:ext cx="1965960" cy="3200400"/>
          </a:xfrm>
          <a:prstGeom prst="roundRect">
            <a:avLst>
              <a:gd name="adj" fmla="val 5581"/>
            </a:avLst>
          </a:prstGeom>
          <a:solidFill>
            <a:srgbClr val="FFFFFF"/>
          </a:solidFill>
          <a:ln/>
          <a:effectLst>
            <a:outerShdw sx="100000" sy="100000" kx="0" ky="0" algn="bl" rotWithShape="0" blurRad="101600" dist="38100" dir="2700000">
              <a:srgbClr val="000000">
                <a:alpha val="18000"/>
              </a:srgbClr>
            </a:outerShdw>
          </a:effectLst>
        </p:spPr>
      </p:sp>
      <p:sp>
        <p:nvSpPr>
          <p:cNvPr id="11" name="Shape 9"/>
          <p:cNvSpPr/>
          <p:nvPr/>
        </p:nvSpPr>
        <p:spPr>
          <a:xfrm>
            <a:off x="3136392" y="1691640"/>
            <a:ext cx="914400" cy="914400"/>
          </a:xfrm>
          <a:prstGeom prst="ellipse">
            <a:avLst/>
          </a:prstGeom>
          <a:solidFill>
            <a:srgbClr val="2E86C1"/>
          </a:solidFill>
          <a:ln/>
        </p:spPr>
      </p:sp>
      <p:sp>
        <p:nvSpPr>
          <p:cNvPr id="12" name="Text 10"/>
          <p:cNvSpPr/>
          <p:nvPr/>
        </p:nvSpPr>
        <p:spPr>
          <a:xfrm>
            <a:off x="3136392" y="1691640"/>
            <a:ext cx="914400" cy="9144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3" name="Text 11"/>
          <p:cNvSpPr/>
          <p:nvPr/>
        </p:nvSpPr>
        <p:spPr>
          <a:xfrm>
            <a:off x="2606040" y="2788920"/>
            <a:ext cx="1965960" cy="41148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Performance Insight</a:t>
            </a:r>
            <a:endParaRPr lang="en-US" sz="1300" dirty="0"/>
          </a:p>
        </p:txBody>
      </p:sp>
      <p:sp>
        <p:nvSpPr>
          <p:cNvPr id="14" name="Text 12"/>
          <p:cNvSpPr/>
          <p:nvPr/>
        </p:nvSpPr>
        <p:spPr>
          <a:xfrm>
            <a:off x="2606040" y="3154680"/>
            <a:ext cx="1965960" cy="320040"/>
          </a:xfrm>
          <a:prstGeom prst="rect">
            <a:avLst/>
          </a:prstGeom>
          <a:noFill/>
          <a:ln/>
        </p:spPr>
        <p:txBody>
          <a:bodyPr wrap="square" lIns="0" tIns="0" rIns="0" bIns="0" rtlCol="0" anchor="ctr"/>
          <a:lstStyle/>
          <a:p>
            <a:pPr algn="ctr" indent="0" marL="0">
              <a:buNone/>
            </a:pPr>
            <a:r>
              <a:rPr lang="en-US" sz="1200" dirty="0">
                <a:solidFill>
                  <a:srgbClr val="2E86C1"/>
                </a:solidFill>
                <a:latin typeface="Calibri" pitchFamily="34" charset="0"/>
                <a:ea typeface="Calibri" pitchFamily="34" charset="-122"/>
                <a:cs typeface="Calibri" pitchFamily="34" charset="-120"/>
              </a:rPr>
              <a:t>بصيرة الأداء</a:t>
            </a:r>
            <a:endParaRPr lang="en-US" sz="1200" dirty="0"/>
          </a:p>
        </p:txBody>
      </p:sp>
      <p:sp>
        <p:nvSpPr>
          <p:cNvPr id="15" name="Text 13"/>
          <p:cNvSpPr/>
          <p:nvPr/>
        </p:nvSpPr>
        <p:spPr>
          <a:xfrm>
            <a:off x="2743200" y="3520440"/>
            <a:ext cx="1691640" cy="914400"/>
          </a:xfrm>
          <a:prstGeom prst="rect">
            <a:avLst/>
          </a:prstGeom>
          <a:noFill/>
          <a:ln/>
        </p:spPr>
        <p:txBody>
          <a:bodyPr wrap="square" lIns="0" tIns="0" rIns="0" bIns="0" rtlCol="0" anchor="t"/>
          <a:lstStyle/>
          <a:p>
            <a:pPr algn="ctr" indent="0" marL="0">
              <a:buNone/>
            </a:pPr>
            <a:r>
              <a:rPr lang="en-US" sz="1100" dirty="0">
                <a:solidFill>
                  <a:srgbClr val="2D3748"/>
                </a:solidFill>
                <a:latin typeface="Calibri" pitchFamily="34" charset="0"/>
                <a:ea typeface="Calibri" pitchFamily="34" charset="-122"/>
                <a:cs typeface="Calibri" pitchFamily="34" charset="-120"/>
              </a:rPr>
              <a:t>تصحيح OCR + تقييم تلقائي — أداء الطالب إزاي؟</a:t>
            </a:r>
            <a:endParaRPr lang="en-US" sz="1100" dirty="0"/>
          </a:p>
        </p:txBody>
      </p:sp>
      <p:sp>
        <p:nvSpPr>
          <p:cNvPr id="16" name="Shape 14"/>
          <p:cNvSpPr/>
          <p:nvPr/>
        </p:nvSpPr>
        <p:spPr>
          <a:xfrm>
            <a:off x="4754880" y="1417320"/>
            <a:ext cx="1965960" cy="3200400"/>
          </a:xfrm>
          <a:prstGeom prst="roundRect">
            <a:avLst>
              <a:gd name="adj" fmla="val 5581"/>
            </a:avLst>
          </a:prstGeom>
          <a:solidFill>
            <a:srgbClr val="FFFFFF"/>
          </a:solidFill>
          <a:ln/>
          <a:effectLst>
            <a:outerShdw sx="100000" sy="100000" kx="0" ky="0" algn="bl" rotWithShape="0" blurRad="101600" dist="38100" dir="2700000">
              <a:srgbClr val="000000">
                <a:alpha val="18000"/>
              </a:srgbClr>
            </a:outerShdw>
          </a:effectLst>
        </p:spPr>
      </p:sp>
      <p:sp>
        <p:nvSpPr>
          <p:cNvPr id="17" name="Shape 15"/>
          <p:cNvSpPr/>
          <p:nvPr/>
        </p:nvSpPr>
        <p:spPr>
          <a:xfrm>
            <a:off x="5285232" y="1691640"/>
            <a:ext cx="914400" cy="914400"/>
          </a:xfrm>
          <a:prstGeom prst="ellipse">
            <a:avLst/>
          </a:prstGeom>
          <a:solidFill>
            <a:srgbClr val="C0392B"/>
          </a:solidFill>
          <a:ln/>
        </p:spPr>
      </p:sp>
      <p:sp>
        <p:nvSpPr>
          <p:cNvPr id="18" name="Text 16"/>
          <p:cNvSpPr/>
          <p:nvPr/>
        </p:nvSpPr>
        <p:spPr>
          <a:xfrm>
            <a:off x="5285232" y="1691640"/>
            <a:ext cx="914400" cy="9144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9" name="Text 17"/>
          <p:cNvSpPr/>
          <p:nvPr/>
        </p:nvSpPr>
        <p:spPr>
          <a:xfrm>
            <a:off x="4754880" y="2788920"/>
            <a:ext cx="1965960" cy="41148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Risk Insight</a:t>
            </a:r>
            <a:endParaRPr lang="en-US" sz="1300" dirty="0"/>
          </a:p>
        </p:txBody>
      </p:sp>
      <p:sp>
        <p:nvSpPr>
          <p:cNvPr id="20" name="Text 18"/>
          <p:cNvSpPr/>
          <p:nvPr/>
        </p:nvSpPr>
        <p:spPr>
          <a:xfrm>
            <a:off x="4754880" y="3154680"/>
            <a:ext cx="1965960" cy="320040"/>
          </a:xfrm>
          <a:prstGeom prst="rect">
            <a:avLst/>
          </a:prstGeom>
          <a:noFill/>
          <a:ln/>
        </p:spPr>
        <p:txBody>
          <a:bodyPr wrap="square" lIns="0" tIns="0" rIns="0" bIns="0" rtlCol="0" anchor="ctr"/>
          <a:lstStyle/>
          <a:p>
            <a:pPr algn="ctr" indent="0" marL="0">
              <a:buNone/>
            </a:pPr>
            <a:r>
              <a:rPr lang="en-US" sz="1200" dirty="0">
                <a:solidFill>
                  <a:srgbClr val="C0392B"/>
                </a:solidFill>
                <a:latin typeface="Calibri" pitchFamily="34" charset="0"/>
                <a:ea typeface="Calibri" pitchFamily="34" charset="-122"/>
                <a:cs typeface="Calibri" pitchFamily="34" charset="-120"/>
              </a:rPr>
              <a:t>بصيرة المخاطر</a:t>
            </a:r>
            <a:endParaRPr lang="en-US" sz="1200" dirty="0"/>
          </a:p>
        </p:txBody>
      </p:sp>
      <p:sp>
        <p:nvSpPr>
          <p:cNvPr id="21" name="Text 19"/>
          <p:cNvSpPr/>
          <p:nvPr/>
        </p:nvSpPr>
        <p:spPr>
          <a:xfrm>
            <a:off x="4892040" y="3520440"/>
            <a:ext cx="1691640" cy="914400"/>
          </a:xfrm>
          <a:prstGeom prst="rect">
            <a:avLst/>
          </a:prstGeom>
          <a:noFill/>
          <a:ln/>
        </p:spPr>
        <p:txBody>
          <a:bodyPr wrap="square" lIns="0" tIns="0" rIns="0" bIns="0" rtlCol="0" anchor="t"/>
          <a:lstStyle/>
          <a:p>
            <a:pPr algn="ctr" indent="0" marL="0">
              <a:buNone/>
            </a:pPr>
            <a:r>
              <a:rPr lang="en-US" sz="1100" dirty="0">
                <a:solidFill>
                  <a:srgbClr val="2D3748"/>
                </a:solidFill>
                <a:latin typeface="Calibri" pitchFamily="34" charset="0"/>
                <a:ea typeface="Calibri" pitchFamily="34" charset="-122"/>
                <a:cs typeface="Calibri" pitchFamily="34" charset="-120"/>
              </a:rPr>
              <a:t>تحليل تنبؤي + إنذار مبكر — الطالب في خطر؟</a:t>
            </a:r>
            <a:endParaRPr lang="en-US" sz="1100" dirty="0"/>
          </a:p>
        </p:txBody>
      </p:sp>
      <p:sp>
        <p:nvSpPr>
          <p:cNvPr id="22" name="Shape 20"/>
          <p:cNvSpPr/>
          <p:nvPr/>
        </p:nvSpPr>
        <p:spPr>
          <a:xfrm>
            <a:off x="6903720" y="1417320"/>
            <a:ext cx="1965960" cy="3200400"/>
          </a:xfrm>
          <a:prstGeom prst="roundRect">
            <a:avLst>
              <a:gd name="adj" fmla="val 5581"/>
            </a:avLst>
          </a:prstGeom>
          <a:solidFill>
            <a:srgbClr val="FFFFFF"/>
          </a:solidFill>
          <a:ln/>
          <a:effectLst>
            <a:outerShdw sx="100000" sy="100000" kx="0" ky="0" algn="bl" rotWithShape="0" blurRad="101600" dist="38100" dir="2700000">
              <a:srgbClr val="000000">
                <a:alpha val="18000"/>
              </a:srgbClr>
            </a:outerShdw>
          </a:effectLst>
        </p:spPr>
      </p:sp>
      <p:sp>
        <p:nvSpPr>
          <p:cNvPr id="23" name="Shape 21"/>
          <p:cNvSpPr/>
          <p:nvPr/>
        </p:nvSpPr>
        <p:spPr>
          <a:xfrm>
            <a:off x="7434072" y="1691640"/>
            <a:ext cx="914400" cy="914400"/>
          </a:xfrm>
          <a:prstGeom prst="ellipse">
            <a:avLst/>
          </a:prstGeom>
          <a:solidFill>
            <a:srgbClr val="8E44AD"/>
          </a:solidFill>
          <a:ln/>
        </p:spPr>
      </p:sp>
      <p:sp>
        <p:nvSpPr>
          <p:cNvPr id="24" name="Text 22"/>
          <p:cNvSpPr/>
          <p:nvPr/>
        </p:nvSpPr>
        <p:spPr>
          <a:xfrm>
            <a:off x="7434072" y="1691640"/>
            <a:ext cx="914400" cy="9144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25" name="Text 23"/>
          <p:cNvSpPr/>
          <p:nvPr/>
        </p:nvSpPr>
        <p:spPr>
          <a:xfrm>
            <a:off x="6903720" y="2788920"/>
            <a:ext cx="1965960" cy="41148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Connection Insight</a:t>
            </a:r>
            <a:endParaRPr lang="en-US" sz="1300" dirty="0"/>
          </a:p>
        </p:txBody>
      </p:sp>
      <p:sp>
        <p:nvSpPr>
          <p:cNvPr id="26" name="Text 24"/>
          <p:cNvSpPr/>
          <p:nvPr/>
        </p:nvSpPr>
        <p:spPr>
          <a:xfrm>
            <a:off x="6903720" y="3154680"/>
            <a:ext cx="1965960" cy="320040"/>
          </a:xfrm>
          <a:prstGeom prst="rect">
            <a:avLst/>
          </a:prstGeom>
          <a:noFill/>
          <a:ln/>
        </p:spPr>
        <p:txBody>
          <a:bodyPr wrap="square" lIns="0" tIns="0" rIns="0" bIns="0" rtlCol="0" anchor="ctr"/>
          <a:lstStyle/>
          <a:p>
            <a:pPr algn="ctr" indent="0" marL="0">
              <a:buNone/>
            </a:pPr>
            <a:r>
              <a:rPr lang="en-US" sz="1200" dirty="0">
                <a:solidFill>
                  <a:srgbClr val="8E44AD"/>
                </a:solidFill>
                <a:latin typeface="Calibri" pitchFamily="34" charset="0"/>
                <a:ea typeface="Calibri" pitchFamily="34" charset="-122"/>
                <a:cs typeface="Calibri" pitchFamily="34" charset="-120"/>
              </a:rPr>
              <a:t>بصيرة التواصل</a:t>
            </a:r>
            <a:endParaRPr lang="en-US" sz="1200" dirty="0"/>
          </a:p>
        </p:txBody>
      </p:sp>
      <p:sp>
        <p:nvSpPr>
          <p:cNvPr id="27" name="Text 25"/>
          <p:cNvSpPr/>
          <p:nvPr/>
        </p:nvSpPr>
        <p:spPr>
          <a:xfrm>
            <a:off x="7040880" y="3520440"/>
            <a:ext cx="1691640" cy="914400"/>
          </a:xfrm>
          <a:prstGeom prst="rect">
            <a:avLst/>
          </a:prstGeom>
          <a:noFill/>
          <a:ln/>
        </p:spPr>
        <p:txBody>
          <a:bodyPr wrap="square" lIns="0" tIns="0" rIns="0" bIns="0" rtlCol="0" anchor="t"/>
          <a:lstStyle/>
          <a:p>
            <a:pPr algn="ctr" indent="0" marL="0">
              <a:buNone/>
            </a:pPr>
            <a:r>
              <a:rPr lang="en-US" sz="1100" dirty="0">
                <a:solidFill>
                  <a:srgbClr val="2D3748"/>
                </a:solidFill>
                <a:latin typeface="Calibri" pitchFamily="34" charset="0"/>
                <a:ea typeface="Calibri" pitchFamily="34" charset="-122"/>
                <a:cs typeface="Calibri" pitchFamily="34" charset="-120"/>
              </a:rPr>
              <a:t>5 أدوار + إرشاد أكاديمي — مين يتكلم مع مين؟</a:t>
            </a:r>
            <a:endParaRPr lang="en-US" sz="1100" dirty="0"/>
          </a:p>
        </p:txBody>
      </p:sp>
      <p:sp>
        <p:nvSpPr>
          <p:cNvPr id="28" name="Text 26"/>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5 / 20</a:t>
            </a:r>
            <a:endParaRPr lang="en-US" sz="900" dirty="0"/>
          </a:p>
        </p:txBody>
      </p:sp>
      <p:pic>
        <p:nvPicPr>
          <p:cNvPr id="29"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1B2A4A"/>
                </a:solidFill>
                <a:latin typeface="Calibri" pitchFamily="34" charset="0"/>
                <a:ea typeface="Calibri" pitchFamily="34" charset="-122"/>
                <a:cs typeface="Calibri" pitchFamily="34" charset="-120"/>
              </a:rPr>
              <a:t>بنية النظام — System Architecture</a:t>
            </a:r>
            <a:endParaRPr lang="en-US" sz="3200" dirty="0"/>
          </a:p>
        </p:txBody>
      </p:sp>
      <p:sp>
        <p:nvSpPr>
          <p:cNvPr id="3" name="Shape 1"/>
          <p:cNvSpPr/>
          <p:nvPr/>
        </p:nvSpPr>
        <p:spPr>
          <a:xfrm>
            <a:off x="548640" y="1051560"/>
            <a:ext cx="8046720" cy="777240"/>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4" name="Shape 2"/>
          <p:cNvSpPr/>
          <p:nvPr/>
        </p:nvSpPr>
        <p:spPr>
          <a:xfrm>
            <a:off x="548640" y="1051560"/>
            <a:ext cx="2560320" cy="777240"/>
          </a:xfrm>
          <a:prstGeom prst="roundRect">
            <a:avLst>
              <a:gd name="adj" fmla="val 11765"/>
            </a:avLst>
          </a:prstGeom>
          <a:solidFill>
            <a:srgbClr val="1E6F5C"/>
          </a:solidFill>
          <a:ln/>
        </p:spPr>
      </p:sp>
      <p:sp>
        <p:nvSpPr>
          <p:cNvPr id="5" name="Text 3"/>
          <p:cNvSpPr/>
          <p:nvPr/>
        </p:nvSpPr>
        <p:spPr>
          <a:xfrm>
            <a:off x="685800" y="1051560"/>
            <a:ext cx="228600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Hardware Layer</a:t>
            </a:r>
            <a:endParaRPr lang="en-US" sz="1300" dirty="0"/>
          </a:p>
          <a:p>
            <a:pPr indent="0" marL="0">
              <a:buNone/>
            </a:pPr>
            <a:r>
              <a:rPr lang="en-US" sz="1000" dirty="0">
                <a:solidFill>
                  <a:srgbClr val="FFFFFF"/>
                </a:solidFill>
                <a:latin typeface="Calibri" pitchFamily="34" charset="0"/>
                <a:ea typeface="Calibri" pitchFamily="34" charset="-122"/>
                <a:cs typeface="Calibri" pitchFamily="34" charset="-120"/>
              </a:rPr>
              <a:t>طبقة الأجهزة</a:t>
            </a:r>
            <a:endParaRPr lang="en-US" sz="1300" dirty="0"/>
          </a:p>
        </p:txBody>
      </p:sp>
      <p:sp>
        <p:nvSpPr>
          <p:cNvPr id="6" name="Text 4"/>
          <p:cNvSpPr/>
          <p:nvPr/>
        </p:nvSpPr>
        <p:spPr>
          <a:xfrm>
            <a:off x="3291840" y="1051560"/>
            <a:ext cx="5120640" cy="7772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ESP32-CAM  |  ESP8266 + RFID  |  LCD 16x2  |  Buzzer</a:t>
            </a:r>
            <a:endParaRPr lang="en-US" sz="1200" dirty="0"/>
          </a:p>
        </p:txBody>
      </p:sp>
      <p:sp>
        <p:nvSpPr>
          <p:cNvPr id="7" name="Shape 5"/>
          <p:cNvSpPr/>
          <p:nvPr/>
        </p:nvSpPr>
        <p:spPr>
          <a:xfrm>
            <a:off x="548640" y="2011680"/>
            <a:ext cx="8046720" cy="777240"/>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8" name="Shape 6"/>
          <p:cNvSpPr/>
          <p:nvPr/>
        </p:nvSpPr>
        <p:spPr>
          <a:xfrm>
            <a:off x="548640" y="2011680"/>
            <a:ext cx="2560320" cy="777240"/>
          </a:xfrm>
          <a:prstGeom prst="roundRect">
            <a:avLst>
              <a:gd name="adj" fmla="val 11765"/>
            </a:avLst>
          </a:prstGeom>
          <a:solidFill>
            <a:srgbClr val="2E86C1"/>
          </a:solidFill>
          <a:ln/>
        </p:spPr>
      </p:sp>
      <p:sp>
        <p:nvSpPr>
          <p:cNvPr id="9" name="Text 7"/>
          <p:cNvSpPr/>
          <p:nvPr/>
        </p:nvSpPr>
        <p:spPr>
          <a:xfrm>
            <a:off x="685800" y="2011680"/>
            <a:ext cx="228600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 Layer — Flask Server</a:t>
            </a:r>
            <a:endParaRPr lang="en-US" sz="1300" dirty="0"/>
          </a:p>
          <a:p>
            <a:pPr indent="0" marL="0">
              <a:buNone/>
            </a:pPr>
            <a:r>
              <a:rPr lang="en-US" sz="1000" dirty="0">
                <a:solidFill>
                  <a:srgbClr val="FFFFFF"/>
                </a:solidFill>
                <a:latin typeface="Calibri" pitchFamily="34" charset="0"/>
                <a:ea typeface="Calibri" pitchFamily="34" charset="-122"/>
                <a:cs typeface="Calibri" pitchFamily="34" charset="-120"/>
              </a:rPr>
              <a:t>طبقة الذكاء الاصطناعي</a:t>
            </a:r>
            <a:endParaRPr lang="en-US" sz="1300" dirty="0"/>
          </a:p>
        </p:txBody>
      </p:sp>
      <p:sp>
        <p:nvSpPr>
          <p:cNvPr id="10" name="Text 8"/>
          <p:cNvSpPr/>
          <p:nvPr/>
        </p:nvSpPr>
        <p:spPr>
          <a:xfrm>
            <a:off x="3291840" y="2011680"/>
            <a:ext cx="5120640" cy="7772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Face Recognition (LBP + MediaPipe)  |  ThreadPoolExecutor  |  Device-Session Mapping</a:t>
            </a:r>
            <a:endParaRPr lang="en-US" sz="1200" dirty="0"/>
          </a:p>
        </p:txBody>
      </p:sp>
      <p:sp>
        <p:nvSpPr>
          <p:cNvPr id="11" name="Shape 9"/>
          <p:cNvSpPr/>
          <p:nvPr/>
        </p:nvSpPr>
        <p:spPr>
          <a:xfrm>
            <a:off x="548640" y="2971800"/>
            <a:ext cx="8046720" cy="777240"/>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12" name="Shape 10"/>
          <p:cNvSpPr/>
          <p:nvPr/>
        </p:nvSpPr>
        <p:spPr>
          <a:xfrm>
            <a:off x="548640" y="2971800"/>
            <a:ext cx="2560320" cy="777240"/>
          </a:xfrm>
          <a:prstGeom prst="roundRect">
            <a:avLst>
              <a:gd name="adj" fmla="val 11765"/>
            </a:avLst>
          </a:prstGeom>
          <a:solidFill>
            <a:srgbClr val="8E44AD"/>
          </a:solidFill>
          <a:ln/>
        </p:spPr>
      </p:sp>
      <p:sp>
        <p:nvSpPr>
          <p:cNvPr id="13" name="Text 11"/>
          <p:cNvSpPr/>
          <p:nvPr/>
        </p:nvSpPr>
        <p:spPr>
          <a:xfrm>
            <a:off x="685800" y="2971800"/>
            <a:ext cx="228600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Web Platform — Next.js</a:t>
            </a:r>
            <a:endParaRPr lang="en-US" sz="1300" dirty="0"/>
          </a:p>
          <a:p>
            <a:pPr indent="0" marL="0">
              <a:buNone/>
            </a:pPr>
            <a:r>
              <a:rPr lang="en-US" sz="1000" dirty="0">
                <a:solidFill>
                  <a:srgbClr val="FFFFFF"/>
                </a:solidFill>
                <a:latin typeface="Calibri" pitchFamily="34" charset="0"/>
                <a:ea typeface="Calibri" pitchFamily="34" charset="-122"/>
                <a:cs typeface="Calibri" pitchFamily="34" charset="-120"/>
              </a:rPr>
              <a:t>المنصة التعليمية</a:t>
            </a:r>
            <a:endParaRPr lang="en-US" sz="1300" dirty="0"/>
          </a:p>
        </p:txBody>
      </p:sp>
      <p:sp>
        <p:nvSpPr>
          <p:cNvPr id="14" name="Text 12"/>
          <p:cNvSpPr/>
          <p:nvPr/>
        </p:nvSpPr>
        <p:spPr>
          <a:xfrm>
            <a:off x="3291840" y="2971800"/>
            <a:ext cx="5120640" cy="7772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App Router  |  NextAuth.js (5 Roles)  |  Prisma ORM  |  OCR Engine  |  Student Insights</a:t>
            </a:r>
            <a:endParaRPr lang="en-US" sz="1200" dirty="0"/>
          </a:p>
        </p:txBody>
      </p:sp>
      <p:sp>
        <p:nvSpPr>
          <p:cNvPr id="15" name="Shape 13"/>
          <p:cNvSpPr/>
          <p:nvPr/>
        </p:nvSpPr>
        <p:spPr>
          <a:xfrm>
            <a:off x="548640" y="3931920"/>
            <a:ext cx="8046720" cy="777240"/>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16" name="Shape 14"/>
          <p:cNvSpPr/>
          <p:nvPr/>
        </p:nvSpPr>
        <p:spPr>
          <a:xfrm>
            <a:off x="548640" y="3931920"/>
            <a:ext cx="2560320" cy="777240"/>
          </a:xfrm>
          <a:prstGeom prst="roundRect">
            <a:avLst>
              <a:gd name="adj" fmla="val 11765"/>
            </a:avLst>
          </a:prstGeom>
          <a:solidFill>
            <a:srgbClr val="C0392B"/>
          </a:solidFill>
          <a:ln/>
        </p:spPr>
      </p:sp>
      <p:sp>
        <p:nvSpPr>
          <p:cNvPr id="17" name="Text 15"/>
          <p:cNvSpPr/>
          <p:nvPr/>
        </p:nvSpPr>
        <p:spPr>
          <a:xfrm>
            <a:off x="685800" y="3931920"/>
            <a:ext cx="228600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Database — PostgreSQL</a:t>
            </a:r>
            <a:endParaRPr lang="en-US" sz="1300" dirty="0"/>
          </a:p>
          <a:p>
            <a:pPr indent="0" marL="0">
              <a:buNone/>
            </a:pPr>
            <a:r>
              <a:rPr lang="en-US" sz="1000" dirty="0">
                <a:solidFill>
                  <a:srgbClr val="FFFFFF"/>
                </a:solidFill>
                <a:latin typeface="Calibri" pitchFamily="34" charset="0"/>
                <a:ea typeface="Calibri" pitchFamily="34" charset="-122"/>
                <a:cs typeface="Calibri" pitchFamily="34" charset="-120"/>
              </a:rPr>
              <a:t>قاعدة البيانات</a:t>
            </a:r>
            <a:endParaRPr lang="en-US" sz="1300" dirty="0"/>
          </a:p>
        </p:txBody>
      </p:sp>
      <p:sp>
        <p:nvSpPr>
          <p:cNvPr id="18" name="Text 16"/>
          <p:cNvSpPr/>
          <p:nvPr/>
        </p:nvSpPr>
        <p:spPr>
          <a:xfrm>
            <a:off x="3291840" y="3931920"/>
            <a:ext cx="5120640" cy="7772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20+ Tables  |  Cascade Delete  |  Unique Constraints  |  Indexed Queries</a:t>
            </a:r>
            <a:endParaRPr lang="en-US" sz="1200" dirty="0"/>
          </a:p>
        </p:txBody>
      </p:sp>
      <p:sp>
        <p:nvSpPr>
          <p:cNvPr id="19" name="Text 17"/>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6 / 20</a:t>
            </a:r>
            <a:endParaRPr lang="en-US" sz="900" dirty="0"/>
          </a:p>
        </p:txBody>
      </p:sp>
      <p:pic>
        <p:nvPicPr>
          <p:cNvPr id="20"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1B2A4A"/>
                </a:solidFill>
                <a:latin typeface="Calibri" pitchFamily="34" charset="0"/>
                <a:ea typeface="Calibri" pitchFamily="34" charset="-122"/>
                <a:cs typeface="Calibri" pitchFamily="34" charset="-120"/>
              </a:rPr>
              <a:t>بصيرة الهوية — AI Face Recognition</a:t>
            </a:r>
            <a:endParaRPr lang="en-US" sz="3200" dirty="0"/>
          </a:p>
        </p:txBody>
      </p:sp>
      <p:sp>
        <p:nvSpPr>
          <p:cNvPr id="3" name="Text 1"/>
          <p:cNvSpPr/>
          <p:nvPr/>
        </p:nvSpPr>
        <p:spPr>
          <a:xfrm>
            <a:off x="548640" y="1005840"/>
            <a:ext cx="3840480" cy="365760"/>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نظام التحقق المزدوج</a:t>
            </a:r>
            <a:endParaRPr lang="en-US" sz="1800" dirty="0"/>
          </a:p>
        </p:txBody>
      </p:sp>
      <p:sp>
        <p:nvSpPr>
          <p:cNvPr id="4" name="Shape 2"/>
          <p:cNvSpPr/>
          <p:nvPr/>
        </p:nvSpPr>
        <p:spPr>
          <a:xfrm>
            <a:off x="548640" y="1508760"/>
            <a:ext cx="3840480" cy="658368"/>
          </a:xfrm>
          <a:prstGeom prst="roundRect">
            <a:avLst>
              <a:gd name="adj" fmla="val 11111"/>
            </a:avLst>
          </a:prstGeom>
          <a:solidFill>
            <a:srgbClr val="FFFFFF"/>
          </a:solidFill>
          <a:ln/>
          <a:effectLst>
            <a:outerShdw sx="100000" sy="100000" kx="0" ky="0" algn="bl" rotWithShape="0" blurRad="101600" dist="38100" dir="2700000">
              <a:srgbClr val="000000">
                <a:alpha val="18000"/>
              </a:srgbClr>
            </a:outerShdw>
          </a:effectLst>
        </p:spPr>
      </p:sp>
      <p:sp>
        <p:nvSpPr>
          <p:cNvPr id="5" name="Text 3"/>
          <p:cNvSpPr/>
          <p:nvPr/>
        </p:nvSpPr>
        <p:spPr>
          <a:xfrm>
            <a:off x="685800" y="1508760"/>
            <a:ext cx="3566160" cy="658368"/>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LBP — Local Binary Patterns</a:t>
            </a:r>
            <a:endParaRPr lang="en-US" sz="1200" dirty="0"/>
          </a:p>
          <a:p>
            <a:pPr indent="0" marL="0">
              <a:buNone/>
            </a:pPr>
            <a:r>
              <a:rPr lang="en-US" sz="1000" dirty="0">
                <a:solidFill>
                  <a:srgbClr val="6B7B9A"/>
                </a:solidFill>
                <a:latin typeface="Calibri" pitchFamily="34" charset="0"/>
                <a:ea typeface="Calibri" pitchFamily="34" charset="-122"/>
                <a:cs typeface="Calibri" pitchFamily="34" charset="-120"/>
              </a:rPr>
              <a:t>مقارنة المظهر — 8x8 grid, 256 bins, correlation ≥ 0.42</a:t>
            </a:r>
            <a:endParaRPr lang="en-US" sz="1200" dirty="0"/>
          </a:p>
        </p:txBody>
      </p:sp>
      <p:sp>
        <p:nvSpPr>
          <p:cNvPr id="6" name="Shape 4"/>
          <p:cNvSpPr/>
          <p:nvPr/>
        </p:nvSpPr>
        <p:spPr>
          <a:xfrm>
            <a:off x="548640" y="2286000"/>
            <a:ext cx="3840480" cy="658368"/>
          </a:xfrm>
          <a:prstGeom prst="roundRect">
            <a:avLst>
              <a:gd name="adj" fmla="val 11111"/>
            </a:avLst>
          </a:prstGeom>
          <a:solidFill>
            <a:srgbClr val="FFFFFF"/>
          </a:solidFill>
          <a:ln/>
          <a:effectLst>
            <a:outerShdw sx="100000" sy="100000" kx="0" ky="0" algn="bl" rotWithShape="0" blurRad="101600" dist="38100" dir="2700000">
              <a:srgbClr val="000000">
                <a:alpha val="18000"/>
              </a:srgbClr>
            </a:outerShdw>
          </a:effectLst>
        </p:spPr>
      </p:sp>
      <p:sp>
        <p:nvSpPr>
          <p:cNvPr id="7" name="Text 5"/>
          <p:cNvSpPr/>
          <p:nvPr/>
        </p:nvSpPr>
        <p:spPr>
          <a:xfrm>
            <a:off x="685800" y="2286000"/>
            <a:ext cx="3566160" cy="658368"/>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MediaPipe FaceMesh</a:t>
            </a:r>
            <a:endParaRPr lang="en-US" sz="1200" dirty="0"/>
          </a:p>
          <a:p>
            <a:pPr indent="0" marL="0">
              <a:buNone/>
            </a:pPr>
            <a:r>
              <a:rPr lang="en-US" sz="1000" dirty="0">
                <a:solidFill>
                  <a:srgbClr val="6B7B9A"/>
                </a:solidFill>
                <a:latin typeface="Calibri" pitchFamily="34" charset="0"/>
                <a:ea typeface="Calibri" pitchFamily="34" charset="-122"/>
                <a:cs typeface="Calibri" pitchFamily="34" charset="-120"/>
              </a:rPr>
              <a:t>468 landmark → 1404 features — مقارنة هندسية (min &lt; 0.40, avg &lt; 0.50)</a:t>
            </a:r>
            <a:endParaRPr lang="en-US" sz="1200" dirty="0"/>
          </a:p>
        </p:txBody>
      </p:sp>
      <p:sp>
        <p:nvSpPr>
          <p:cNvPr id="8" name="Shape 6"/>
          <p:cNvSpPr/>
          <p:nvPr/>
        </p:nvSpPr>
        <p:spPr>
          <a:xfrm>
            <a:off x="548640" y="3063240"/>
            <a:ext cx="3840480" cy="658368"/>
          </a:xfrm>
          <a:prstGeom prst="roundRect">
            <a:avLst>
              <a:gd name="adj" fmla="val 11111"/>
            </a:avLst>
          </a:prstGeom>
          <a:solidFill>
            <a:srgbClr val="FFFFFF"/>
          </a:solidFill>
          <a:ln/>
          <a:effectLst>
            <a:outerShdw sx="100000" sy="100000" kx="0" ky="0" algn="bl" rotWithShape="0" blurRad="101600" dist="38100" dir="2700000">
              <a:srgbClr val="000000">
                <a:alpha val="18000"/>
              </a:srgbClr>
            </a:outerShdw>
          </a:effectLst>
        </p:spPr>
      </p:sp>
      <p:sp>
        <p:nvSpPr>
          <p:cNvPr id="9" name="Text 7"/>
          <p:cNvSpPr/>
          <p:nvPr/>
        </p:nvSpPr>
        <p:spPr>
          <a:xfrm>
            <a:off x="685800" y="3063240"/>
            <a:ext cx="3566160" cy="658368"/>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process_frame()</a:t>
            </a:r>
            <a:endParaRPr lang="en-US" sz="1200" dirty="0"/>
          </a:p>
          <a:p>
            <a:pPr indent="0" marL="0">
              <a:buNone/>
            </a:pPr>
            <a:r>
              <a:rPr lang="en-US" sz="1000" dirty="0">
                <a:solidFill>
                  <a:srgbClr val="6B7B9A"/>
                </a:solidFill>
                <a:latin typeface="Calibri" pitchFamily="34" charset="0"/>
                <a:ea typeface="Calibri" pitchFamily="34" charset="-122"/>
                <a:cs typeface="Calibri" pitchFamily="34" charset="-120"/>
              </a:rPr>
              <a:t>Single MediaPipe pass → features + face_crop (128x128 grayscale)</a:t>
            </a:r>
            <a:endParaRPr lang="en-US" sz="1200" dirty="0"/>
          </a:p>
        </p:txBody>
      </p:sp>
      <p:sp>
        <p:nvSpPr>
          <p:cNvPr id="10" name="Shape 8"/>
          <p:cNvSpPr/>
          <p:nvPr/>
        </p:nvSpPr>
        <p:spPr>
          <a:xfrm>
            <a:off x="548640" y="3840480"/>
            <a:ext cx="3840480" cy="658368"/>
          </a:xfrm>
          <a:prstGeom prst="roundRect">
            <a:avLst>
              <a:gd name="adj" fmla="val 11111"/>
            </a:avLst>
          </a:prstGeom>
          <a:solidFill>
            <a:srgbClr val="FFFFFF"/>
          </a:solidFill>
          <a:ln/>
          <a:effectLst>
            <a:outerShdw sx="100000" sy="100000" kx="0" ky="0" algn="bl" rotWithShape="0" blurRad="101600" dist="38100" dir="2700000">
              <a:srgbClr val="000000">
                <a:alpha val="18000"/>
              </a:srgbClr>
            </a:outerShdw>
          </a:effectLst>
        </p:spPr>
      </p:sp>
      <p:sp>
        <p:nvSpPr>
          <p:cNvPr id="11" name="Text 9"/>
          <p:cNvSpPr/>
          <p:nvPr/>
        </p:nvSpPr>
        <p:spPr>
          <a:xfrm>
            <a:off x="685800" y="3840480"/>
            <a:ext cx="3566160" cy="658368"/>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ThreadPoolExecutor</a:t>
            </a:r>
            <a:endParaRPr lang="en-US" sz="1200" dirty="0"/>
          </a:p>
          <a:p>
            <a:pPr indent="0" marL="0">
              <a:buNone/>
            </a:pPr>
            <a:r>
              <a:rPr lang="en-US" sz="1000" dirty="0">
                <a:solidFill>
                  <a:srgbClr val="6B7B9A"/>
                </a:solidFill>
                <a:latin typeface="Calibri" pitchFamily="34" charset="0"/>
                <a:ea typeface="Calibri" pitchFamily="34" charset="-122"/>
                <a:cs typeface="Calibri" pitchFamily="34" charset="-120"/>
              </a:rPr>
              <a:t>3 workers — 30 صورة بالتوازي أثناء التسجيل</a:t>
            </a:r>
            <a:endParaRPr lang="en-US" sz="1200" dirty="0"/>
          </a:p>
        </p:txBody>
      </p:sp>
      <p:sp>
        <p:nvSpPr>
          <p:cNvPr id="12" name="Text 10"/>
          <p:cNvSpPr/>
          <p:nvPr/>
        </p:nvSpPr>
        <p:spPr>
          <a:xfrm>
            <a:off x="4754880" y="1005840"/>
            <a:ext cx="3840480" cy="365760"/>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مسار التسجيل والتحقق</a:t>
            </a:r>
            <a:endParaRPr lang="en-US" sz="1800" dirty="0"/>
          </a:p>
        </p:txBody>
      </p:sp>
      <p:sp>
        <p:nvSpPr>
          <p:cNvPr id="13" name="Text 11"/>
          <p:cNvSpPr/>
          <p:nvPr/>
        </p:nvSpPr>
        <p:spPr>
          <a:xfrm>
            <a:off x="4846320" y="1508760"/>
            <a:ext cx="365760" cy="365760"/>
          </a:xfrm>
          <a:prstGeom prst="ellipse">
            <a:avLst/>
          </a:prstGeom>
          <a:solidFill>
            <a:srgbClr val="1B2A4A"/>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p:nvPr/>
        </p:nvSpPr>
        <p:spPr>
          <a:xfrm>
            <a:off x="5349240" y="1508760"/>
            <a:ext cx="32004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الطالب يمسح كارت RFID</a:t>
            </a:r>
            <a:endParaRPr lang="en-US" sz="1200" dirty="0"/>
          </a:p>
        </p:txBody>
      </p:sp>
      <p:sp>
        <p:nvSpPr>
          <p:cNvPr id="15" name="Text 13"/>
          <p:cNvSpPr/>
          <p:nvPr/>
        </p:nvSpPr>
        <p:spPr>
          <a:xfrm>
            <a:off x="4846320" y="2029968"/>
            <a:ext cx="365760" cy="365760"/>
          </a:xfrm>
          <a:prstGeom prst="ellipse">
            <a:avLst/>
          </a:prstGeom>
          <a:solidFill>
            <a:srgbClr val="1B2A4A"/>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5349240" y="2029968"/>
            <a:ext cx="32004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ESP8266 يرسل Card ID للسيرفر</a:t>
            </a:r>
            <a:endParaRPr lang="en-US" sz="1200" dirty="0"/>
          </a:p>
        </p:txBody>
      </p:sp>
      <p:sp>
        <p:nvSpPr>
          <p:cNvPr id="17" name="Text 15"/>
          <p:cNvSpPr/>
          <p:nvPr/>
        </p:nvSpPr>
        <p:spPr>
          <a:xfrm>
            <a:off x="4846320" y="2551176"/>
            <a:ext cx="365760" cy="365760"/>
          </a:xfrm>
          <a:prstGeom prst="ellipse">
            <a:avLst/>
          </a:prstGeom>
          <a:solidFill>
            <a:srgbClr val="1B2A4A"/>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5349240" y="2551176"/>
            <a:ext cx="32004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Flask يطلب صورة من ESP32-CAM</a:t>
            </a:r>
            <a:endParaRPr lang="en-US" sz="1200" dirty="0"/>
          </a:p>
        </p:txBody>
      </p:sp>
      <p:sp>
        <p:nvSpPr>
          <p:cNvPr id="19" name="Text 17"/>
          <p:cNvSpPr/>
          <p:nvPr/>
        </p:nvSpPr>
        <p:spPr>
          <a:xfrm>
            <a:off x="4846320" y="3072384"/>
            <a:ext cx="365760" cy="365760"/>
          </a:xfrm>
          <a:prstGeom prst="ellipse">
            <a:avLst/>
          </a:prstGeom>
          <a:solidFill>
            <a:srgbClr val="1B2A4A"/>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5349240" y="3072384"/>
            <a:ext cx="32004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process_frame() → LBP + Landmarks</a:t>
            </a:r>
            <a:endParaRPr lang="en-US" sz="1200" dirty="0"/>
          </a:p>
        </p:txBody>
      </p:sp>
      <p:sp>
        <p:nvSpPr>
          <p:cNvPr id="21" name="Text 19"/>
          <p:cNvSpPr/>
          <p:nvPr/>
        </p:nvSpPr>
        <p:spPr>
          <a:xfrm>
            <a:off x="4846320" y="3593592"/>
            <a:ext cx="365760" cy="365760"/>
          </a:xfrm>
          <a:prstGeom prst="ellipse">
            <a:avLst/>
          </a:prstGeom>
          <a:solidFill>
            <a:srgbClr val="1B2A4A"/>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5349240" y="3593592"/>
            <a:ext cx="32004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مقارنة مع البيانات المسجلة</a:t>
            </a:r>
            <a:endParaRPr lang="en-US" sz="1200" dirty="0"/>
          </a:p>
        </p:txBody>
      </p:sp>
      <p:sp>
        <p:nvSpPr>
          <p:cNvPr id="23" name="Text 21"/>
          <p:cNvSpPr/>
          <p:nvPr/>
        </p:nvSpPr>
        <p:spPr>
          <a:xfrm>
            <a:off x="4846320" y="4114800"/>
            <a:ext cx="365760" cy="365760"/>
          </a:xfrm>
          <a:prstGeom prst="ellipse">
            <a:avLst/>
          </a:prstGeom>
          <a:solidFill>
            <a:srgbClr val="1E6F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4" name="Text 22"/>
          <p:cNvSpPr/>
          <p:nvPr/>
        </p:nvSpPr>
        <p:spPr>
          <a:xfrm>
            <a:off x="5349240" y="4114800"/>
            <a:ext cx="32004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النتيجة: ✓ Present / ✕ Rejected</a:t>
            </a:r>
            <a:endParaRPr lang="en-US" sz="1200" dirty="0"/>
          </a:p>
        </p:txBody>
      </p:sp>
      <p:sp>
        <p:nvSpPr>
          <p:cNvPr id="25" name="Text 23"/>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7 / 20</a:t>
            </a:r>
            <a:endParaRPr lang="en-US" sz="900" dirty="0"/>
          </a:p>
        </p:txBody>
      </p:sp>
      <p:pic>
        <p:nvPicPr>
          <p:cNvPr id="26"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1B2A4A"/>
                </a:solidFill>
                <a:latin typeface="Calibri" pitchFamily="34" charset="0"/>
                <a:ea typeface="Calibri" pitchFamily="34" charset="-122"/>
                <a:cs typeface="Calibri" pitchFamily="34" charset="-120"/>
              </a:rPr>
              <a:t>تصميم الأجهزة — Hardware Design</a:t>
            </a:r>
            <a:endParaRPr lang="en-US" sz="3200" dirty="0"/>
          </a:p>
        </p:txBody>
      </p:sp>
      <p:sp>
        <p:nvSpPr>
          <p:cNvPr id="3" name="Shape 1"/>
          <p:cNvSpPr/>
          <p:nvPr/>
        </p:nvSpPr>
        <p:spPr>
          <a:xfrm>
            <a:off x="457200" y="1051560"/>
            <a:ext cx="3931920" cy="3383280"/>
          </a:xfrm>
          <a:prstGeom prst="roundRect">
            <a:avLst>
              <a:gd name="adj" fmla="val 3243"/>
            </a:avLst>
          </a:prstGeom>
          <a:solidFill>
            <a:srgbClr val="FFFFFF"/>
          </a:solidFill>
          <a:ln/>
          <a:effectLst>
            <a:outerShdw sx="100000" sy="100000" kx="0" ky="0" algn="bl" rotWithShape="0" blurRad="101600" dist="38100" dir="2700000">
              <a:srgbClr val="000000">
                <a:alpha val="18000"/>
              </a:srgbClr>
            </a:outerShdw>
          </a:effectLst>
        </p:spPr>
      </p:sp>
      <p:sp>
        <p:nvSpPr>
          <p:cNvPr id="4" name="Text 2"/>
          <p:cNvSpPr/>
          <p:nvPr/>
        </p:nvSpPr>
        <p:spPr>
          <a:xfrm>
            <a:off x="640080" y="1188720"/>
            <a:ext cx="3566160" cy="411480"/>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ESP32-CAM (AI-Thinker)</a:t>
            </a:r>
            <a:endParaRPr lang="en-US" sz="1800" dirty="0"/>
          </a:p>
        </p:txBody>
      </p:sp>
      <p:sp>
        <p:nvSpPr>
          <p:cNvPr id="5" name="Text 3"/>
          <p:cNvSpPr/>
          <p:nvPr/>
        </p:nvSpPr>
        <p:spPr>
          <a:xfrm>
            <a:off x="731520" y="1737360"/>
            <a:ext cx="3474720" cy="2560320"/>
          </a:xfrm>
          <a:prstGeom prst="rect">
            <a:avLst/>
          </a:prstGeom>
          <a:noFill/>
          <a:ln/>
        </p:spPr>
        <p:txBody>
          <a:bodyPr wrap="square" rtlCol="0" anchor="ctr"/>
          <a:lstStyle/>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OV2640 Camera Sensor</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4MB PSRAM for frame buffer</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WiFi 802.11 b/g/n</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HTTP endpoint: /capture</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JPEG output @ 10.123.127.60</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Auto-retry on camera init failure</a:t>
            </a:r>
            <a:endParaRPr lang="en-US" sz="1300" dirty="0"/>
          </a:p>
        </p:txBody>
      </p:sp>
      <p:sp>
        <p:nvSpPr>
          <p:cNvPr id="6" name="Shape 4"/>
          <p:cNvSpPr/>
          <p:nvPr/>
        </p:nvSpPr>
        <p:spPr>
          <a:xfrm>
            <a:off x="4754880" y="1051560"/>
            <a:ext cx="3931920" cy="3383280"/>
          </a:xfrm>
          <a:prstGeom prst="roundRect">
            <a:avLst>
              <a:gd name="adj" fmla="val 3243"/>
            </a:avLst>
          </a:prstGeom>
          <a:solidFill>
            <a:srgbClr val="FFFFFF"/>
          </a:solidFill>
          <a:ln/>
          <a:effectLst>
            <a:outerShdw sx="100000" sy="100000" kx="0" ky="0" algn="bl" rotWithShape="0" blurRad="101600" dist="38100" dir="2700000">
              <a:srgbClr val="000000">
                <a:alpha val="18000"/>
              </a:srgbClr>
            </a:outerShdw>
          </a:effectLst>
        </p:spPr>
      </p:sp>
      <p:sp>
        <p:nvSpPr>
          <p:cNvPr id="7" name="Text 5"/>
          <p:cNvSpPr/>
          <p:nvPr/>
        </p:nvSpPr>
        <p:spPr>
          <a:xfrm>
            <a:off x="4937760" y="1188720"/>
            <a:ext cx="3566160" cy="411480"/>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ESP8266 NodeMCU V3</a:t>
            </a:r>
            <a:endParaRPr lang="en-US" sz="1800" dirty="0"/>
          </a:p>
        </p:txBody>
      </p:sp>
      <p:sp>
        <p:nvSpPr>
          <p:cNvPr id="8" name="Text 6"/>
          <p:cNvSpPr/>
          <p:nvPr/>
        </p:nvSpPr>
        <p:spPr>
          <a:xfrm>
            <a:off x="4846320" y="1737360"/>
            <a:ext cx="3474720" cy="2560320"/>
          </a:xfrm>
          <a:prstGeom prst="rect">
            <a:avLst/>
          </a:prstGeom>
          <a:noFill/>
          <a:ln/>
        </p:spPr>
        <p:txBody>
          <a:bodyPr wrap="square" rtlCol="0" anchor="ctr"/>
          <a:lstStyle/>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MFRC522 RFID Reader (SPI)</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I2C LCD 16x2 Display</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Active-HIGH Buzzer on GPIO2</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Reads card → HTTP POST to Flask</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LCD feedback: Success / Error</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Auto-reconnect WiFi</a:t>
            </a:r>
            <a:endParaRPr lang="en-US" sz="1300" dirty="0"/>
          </a:p>
        </p:txBody>
      </p:sp>
      <p:sp>
        <p:nvSpPr>
          <p:cNvPr id="9" name="Text 7"/>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8 / 20</a:t>
            </a:r>
            <a:endParaRPr lang="en-US" sz="900" dirty="0"/>
          </a:p>
        </p:txBody>
      </p:sp>
      <p:pic>
        <p:nvPicPr>
          <p:cNvPr id="10"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ربط الجهاز بالمحاضرة — Device-Session Mapping</a:t>
            </a:r>
            <a:endParaRPr lang="en-US" sz="2800" dirty="0"/>
          </a:p>
        </p:txBody>
      </p:sp>
      <p:sp>
        <p:nvSpPr>
          <p:cNvPr id="3" name="Text 1"/>
          <p:cNvSpPr/>
          <p:nvPr/>
        </p:nvSpPr>
        <p:spPr>
          <a:xfrm>
            <a:off x="457200" y="777240"/>
            <a:ext cx="8229600" cy="320040"/>
          </a:xfrm>
          <a:prstGeom prst="rect">
            <a:avLst/>
          </a:prstGeom>
          <a:noFill/>
          <a:ln/>
        </p:spPr>
        <p:txBody>
          <a:bodyPr wrap="square" rtlCol="0" anchor="ctr"/>
          <a:lstStyle/>
          <a:p>
            <a:pPr algn="ctr" indent="0" marL="0">
              <a:buNone/>
            </a:pPr>
            <a:r>
              <a:rPr lang="en-US" sz="1400" i="1" dirty="0">
                <a:solidFill>
                  <a:srgbClr val="F5A623"/>
                </a:solidFill>
                <a:latin typeface="Calibri" pitchFamily="34" charset="0"/>
                <a:ea typeface="Calibri" pitchFamily="34" charset="-122"/>
                <a:cs typeface="Calibri" pitchFamily="34" charset="-120"/>
              </a:rPr>
              <a:t>كيف يعرف النظام أي جهاز يسجل لأي محاضرة؟</a:t>
            </a:r>
            <a:endParaRPr lang="en-US" sz="1400" dirty="0"/>
          </a:p>
        </p:txBody>
      </p:sp>
      <p:sp>
        <p:nvSpPr>
          <p:cNvPr id="4" name="Shape 2"/>
          <p:cNvSpPr/>
          <p:nvPr/>
        </p:nvSpPr>
        <p:spPr>
          <a:xfrm>
            <a:off x="731520" y="1371600"/>
            <a:ext cx="7680960" cy="658368"/>
          </a:xfrm>
          <a:prstGeom prst="roundRect">
            <a:avLst>
              <a:gd name="adj" fmla="val 11111"/>
            </a:avLst>
          </a:prstGeom>
          <a:solidFill>
            <a:srgbClr val="1B2A4A"/>
          </a:solidFill>
          <a:ln/>
        </p:spPr>
      </p:sp>
      <p:sp>
        <p:nvSpPr>
          <p:cNvPr id="5" name="Text 3"/>
          <p:cNvSpPr/>
          <p:nvPr/>
        </p:nvSpPr>
        <p:spPr>
          <a:xfrm>
            <a:off x="914400" y="1444752"/>
            <a:ext cx="502920" cy="502920"/>
          </a:xfrm>
          <a:prstGeom prst="ellipse">
            <a:avLst/>
          </a:prstGeom>
          <a:solidFill>
            <a:srgbClr val="F5A623"/>
          </a:solidFill>
          <a:ln/>
        </p:spPr>
        <p:txBody>
          <a:bodyPr wrap="square" rtlCol="0" anchor="ctr"/>
          <a:lstStyle/>
          <a:p>
            <a:pPr algn="ctr" indent="0" marL="0">
              <a:buNone/>
            </a:pPr>
            <a:r>
              <a:rPr lang="en-US" sz="2000" b="1" dirty="0">
                <a:solidFill>
                  <a:srgbClr val="1B2A4A"/>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600200" y="1371600"/>
            <a:ext cx="2286000" cy="658368"/>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الدكتور يفتح Session</a:t>
            </a:r>
            <a:endParaRPr lang="en-US" sz="1500" dirty="0"/>
          </a:p>
        </p:txBody>
      </p:sp>
      <p:sp>
        <p:nvSpPr>
          <p:cNvPr id="7" name="Text 5"/>
          <p:cNvSpPr/>
          <p:nvPr/>
        </p:nvSpPr>
        <p:spPr>
          <a:xfrm>
            <a:off x="3840480" y="1371600"/>
            <a:ext cx="4389120" cy="65836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من الـ Dashboard يختار الكورس ويبدأ session جديدة</a:t>
            </a:r>
            <a:endParaRPr lang="en-US" sz="1200" dirty="0"/>
          </a:p>
        </p:txBody>
      </p:sp>
      <p:sp>
        <p:nvSpPr>
          <p:cNvPr id="8" name="Shape 6"/>
          <p:cNvSpPr/>
          <p:nvPr/>
        </p:nvSpPr>
        <p:spPr>
          <a:xfrm>
            <a:off x="731520" y="2194560"/>
            <a:ext cx="7680960" cy="658368"/>
          </a:xfrm>
          <a:prstGeom prst="roundRect">
            <a:avLst>
              <a:gd name="adj" fmla="val 11111"/>
            </a:avLst>
          </a:prstGeom>
          <a:solidFill>
            <a:srgbClr val="1B2A4A"/>
          </a:solidFill>
          <a:ln/>
        </p:spPr>
      </p:sp>
      <p:sp>
        <p:nvSpPr>
          <p:cNvPr id="9" name="Text 7"/>
          <p:cNvSpPr/>
          <p:nvPr/>
        </p:nvSpPr>
        <p:spPr>
          <a:xfrm>
            <a:off x="914400" y="2267712"/>
            <a:ext cx="502920" cy="502920"/>
          </a:xfrm>
          <a:prstGeom prst="ellipse">
            <a:avLst/>
          </a:prstGeom>
          <a:solidFill>
            <a:srgbClr val="F5A623"/>
          </a:solidFill>
          <a:ln/>
        </p:spPr>
        <p:txBody>
          <a:bodyPr wrap="square" rtlCol="0" anchor="ctr"/>
          <a:lstStyle/>
          <a:p>
            <a:pPr algn="ctr" indent="0" marL="0">
              <a:buNone/>
            </a:pPr>
            <a:r>
              <a:rPr lang="en-US" sz="2000" b="1" dirty="0">
                <a:solidFill>
                  <a:srgbClr val="1B2A4A"/>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600200" y="2194560"/>
            <a:ext cx="2286000" cy="658368"/>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اختيار الجهاز</a:t>
            </a:r>
            <a:endParaRPr lang="en-US" sz="1500" dirty="0"/>
          </a:p>
        </p:txBody>
      </p:sp>
      <p:sp>
        <p:nvSpPr>
          <p:cNvPr id="11" name="Text 9"/>
          <p:cNvSpPr/>
          <p:nvPr/>
        </p:nvSpPr>
        <p:spPr>
          <a:xfrm>
            <a:off x="3840480" y="2194560"/>
            <a:ext cx="4389120" cy="65836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POST /select-session → Flask يربط IP الجهاز بالـ session</a:t>
            </a:r>
            <a:endParaRPr lang="en-US" sz="1200" dirty="0"/>
          </a:p>
        </p:txBody>
      </p:sp>
      <p:sp>
        <p:nvSpPr>
          <p:cNvPr id="12" name="Shape 10"/>
          <p:cNvSpPr/>
          <p:nvPr/>
        </p:nvSpPr>
        <p:spPr>
          <a:xfrm>
            <a:off x="731520" y="3017520"/>
            <a:ext cx="7680960" cy="658368"/>
          </a:xfrm>
          <a:prstGeom prst="roundRect">
            <a:avLst>
              <a:gd name="adj" fmla="val 11111"/>
            </a:avLst>
          </a:prstGeom>
          <a:solidFill>
            <a:srgbClr val="1B2A4A"/>
          </a:solidFill>
          <a:ln/>
        </p:spPr>
      </p:sp>
      <p:sp>
        <p:nvSpPr>
          <p:cNvPr id="13" name="Text 11"/>
          <p:cNvSpPr/>
          <p:nvPr/>
        </p:nvSpPr>
        <p:spPr>
          <a:xfrm>
            <a:off x="914400" y="3090672"/>
            <a:ext cx="502920" cy="502920"/>
          </a:xfrm>
          <a:prstGeom prst="ellipse">
            <a:avLst/>
          </a:prstGeom>
          <a:solidFill>
            <a:srgbClr val="F5A623"/>
          </a:solidFill>
          <a:ln/>
        </p:spPr>
        <p:txBody>
          <a:bodyPr wrap="square" rtlCol="0" anchor="ctr"/>
          <a:lstStyle/>
          <a:p>
            <a:pPr algn="ctr" indent="0" marL="0">
              <a:buNone/>
            </a:pPr>
            <a:r>
              <a:rPr lang="en-US" sz="2000" b="1" dirty="0">
                <a:solidFill>
                  <a:srgbClr val="1B2A4A"/>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600200" y="3017520"/>
            <a:ext cx="2286000" cy="658368"/>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مسح الكارت</a:t>
            </a:r>
            <a:endParaRPr lang="en-US" sz="1500" dirty="0"/>
          </a:p>
        </p:txBody>
      </p:sp>
      <p:sp>
        <p:nvSpPr>
          <p:cNvPr id="15" name="Text 13"/>
          <p:cNvSpPr/>
          <p:nvPr/>
        </p:nvSpPr>
        <p:spPr>
          <a:xfrm>
            <a:off x="3840480" y="3017520"/>
            <a:ext cx="4389120" cy="65836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في /scan-card — Flask بيعرف الـ sessionId من device_to_session[IP]</a:t>
            </a:r>
            <a:endParaRPr lang="en-US" sz="1200" dirty="0"/>
          </a:p>
        </p:txBody>
      </p:sp>
      <p:sp>
        <p:nvSpPr>
          <p:cNvPr id="16" name="Shape 14"/>
          <p:cNvSpPr/>
          <p:nvPr/>
        </p:nvSpPr>
        <p:spPr>
          <a:xfrm>
            <a:off x="731520" y="3840480"/>
            <a:ext cx="7680960" cy="658368"/>
          </a:xfrm>
          <a:prstGeom prst="roundRect">
            <a:avLst>
              <a:gd name="adj" fmla="val 11111"/>
            </a:avLst>
          </a:prstGeom>
          <a:solidFill>
            <a:srgbClr val="1B2A4A"/>
          </a:solidFill>
          <a:ln/>
        </p:spPr>
      </p:sp>
      <p:sp>
        <p:nvSpPr>
          <p:cNvPr id="17" name="Text 15"/>
          <p:cNvSpPr/>
          <p:nvPr/>
        </p:nvSpPr>
        <p:spPr>
          <a:xfrm>
            <a:off x="914400" y="3913632"/>
            <a:ext cx="502920" cy="502920"/>
          </a:xfrm>
          <a:prstGeom prst="ellipse">
            <a:avLst/>
          </a:prstGeom>
          <a:solidFill>
            <a:srgbClr val="F5A623"/>
          </a:solidFill>
          <a:ln/>
        </p:spPr>
        <p:txBody>
          <a:bodyPr wrap="square" rtlCol="0" anchor="ctr"/>
          <a:lstStyle/>
          <a:p>
            <a:pPr algn="ctr" indent="0" marL="0">
              <a:buNone/>
            </a:pPr>
            <a:r>
              <a:rPr lang="en-US" sz="2000" b="1" dirty="0">
                <a:solidFill>
                  <a:srgbClr val="1B2A4A"/>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1600200" y="3840480"/>
            <a:ext cx="2286000" cy="658368"/>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عزل المحاضرات</a:t>
            </a:r>
            <a:endParaRPr lang="en-US" sz="1500" dirty="0"/>
          </a:p>
        </p:txBody>
      </p:sp>
      <p:sp>
        <p:nvSpPr>
          <p:cNvPr id="19" name="Text 17"/>
          <p:cNvSpPr/>
          <p:nvPr/>
        </p:nvSpPr>
        <p:spPr>
          <a:xfrm>
            <a:off x="3840480" y="3840480"/>
            <a:ext cx="4389120" cy="65836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كل course مستقل — لو 3 دكاتره شغالين مش هيأثروا على بعض</a:t>
            </a:r>
            <a:endParaRPr lang="en-US" sz="1200" dirty="0"/>
          </a:p>
        </p:txBody>
      </p:sp>
      <p:sp>
        <p:nvSpPr>
          <p:cNvPr id="20" name="Text 18"/>
          <p:cNvSpPr/>
          <p:nvPr/>
        </p:nvSpPr>
        <p:spPr>
          <a:xfrm>
            <a:off x="1371600" y="4572000"/>
            <a:ext cx="6400800" cy="320040"/>
          </a:xfrm>
          <a:prstGeom prst="rect">
            <a:avLst/>
          </a:prstGeom>
          <a:noFill/>
          <a:ln/>
        </p:spPr>
        <p:txBody>
          <a:bodyPr wrap="square" rtlCol="0" anchor="ctr"/>
          <a:lstStyle/>
          <a:p>
            <a:pPr algn="ctr" indent="0" marL="0">
              <a:buNone/>
            </a:pPr>
            <a:r>
              <a:rPr lang="en-US" sz="1100" i="1" dirty="0">
                <a:solidFill>
                  <a:srgbClr val="6B7B9A"/>
                </a:solidFill>
                <a:latin typeface="Calibri" pitchFamily="34" charset="0"/>
                <a:ea typeface="Calibri" pitchFamily="34" charset="-122"/>
                <a:cs typeface="Calibri" pitchFamily="34" charset="-120"/>
              </a:rPr>
              <a:t>device_to_session = { '10.123.127.60': 'session_abc123' }</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1B2A4A"/>
                </a:solidFill>
                <a:latin typeface="Calibri" pitchFamily="34" charset="0"/>
                <a:ea typeface="Calibri" pitchFamily="34" charset="-122"/>
                <a:cs typeface="Calibri" pitchFamily="34" charset="-120"/>
              </a:rPr>
              <a:t>بصيرة الأداء — OCR Exam System</a:t>
            </a:r>
            <a:endParaRPr lang="en-US" sz="3200" dirty="0"/>
          </a:p>
        </p:txBody>
      </p:sp>
      <p:sp>
        <p:nvSpPr>
          <p:cNvPr id="3" name="Text 1"/>
          <p:cNvSpPr/>
          <p:nvPr/>
        </p:nvSpPr>
        <p:spPr>
          <a:xfrm>
            <a:off x="548640" y="1005840"/>
            <a:ext cx="4114800" cy="365760"/>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مسار العمل</a:t>
            </a:r>
            <a:endParaRPr lang="en-US" sz="1800" dirty="0"/>
          </a:p>
        </p:txBody>
      </p:sp>
      <p:sp>
        <p:nvSpPr>
          <p:cNvPr id="4" name="Text 2"/>
          <p:cNvSpPr/>
          <p:nvPr/>
        </p:nvSpPr>
        <p:spPr>
          <a:xfrm>
            <a:off x="640080" y="1463040"/>
            <a:ext cx="320040" cy="320040"/>
          </a:xfrm>
          <a:prstGeom prst="ellipse">
            <a:avLst/>
          </a:prstGeom>
          <a:solidFill>
            <a:srgbClr val="2E86C1"/>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1097280" y="1463040"/>
            <a:ext cx="3474720" cy="41148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الدكتور ينشئ الامتحان (MCQ / True-False)</a:t>
            </a:r>
            <a:endParaRPr lang="en-US" sz="1200" dirty="0"/>
          </a:p>
        </p:txBody>
      </p:sp>
      <p:sp>
        <p:nvSpPr>
          <p:cNvPr id="6" name="Text 4"/>
          <p:cNvSpPr/>
          <p:nvPr/>
        </p:nvSpPr>
        <p:spPr>
          <a:xfrm>
            <a:off x="640080" y="1993392"/>
            <a:ext cx="320040" cy="320040"/>
          </a:xfrm>
          <a:prstGeom prst="ellipse">
            <a:avLst/>
          </a:prstGeom>
          <a:solidFill>
            <a:srgbClr val="2E86C1"/>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7" name="Text 5"/>
          <p:cNvSpPr/>
          <p:nvPr/>
        </p:nvSpPr>
        <p:spPr>
          <a:xfrm>
            <a:off x="1097280" y="1993392"/>
            <a:ext cx="3474720" cy="41148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النظام يولد Bubble Sheet + QR Code لكل طالب</a:t>
            </a:r>
            <a:endParaRPr lang="en-US" sz="1200" dirty="0"/>
          </a:p>
        </p:txBody>
      </p:sp>
      <p:sp>
        <p:nvSpPr>
          <p:cNvPr id="8" name="Text 6"/>
          <p:cNvSpPr/>
          <p:nvPr/>
        </p:nvSpPr>
        <p:spPr>
          <a:xfrm>
            <a:off x="640080" y="2523744"/>
            <a:ext cx="320040" cy="320040"/>
          </a:xfrm>
          <a:prstGeom prst="ellipse">
            <a:avLst/>
          </a:prstGeom>
          <a:solidFill>
            <a:srgbClr val="2E86C1"/>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9" name="Text 7"/>
          <p:cNvSpPr/>
          <p:nvPr/>
        </p:nvSpPr>
        <p:spPr>
          <a:xfrm>
            <a:off x="1097280" y="2523744"/>
            <a:ext cx="3474720" cy="41148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الطالب يحل والورقة تتصور / تتسكن</a:t>
            </a:r>
            <a:endParaRPr lang="en-US" sz="1200" dirty="0"/>
          </a:p>
        </p:txBody>
      </p:sp>
      <p:sp>
        <p:nvSpPr>
          <p:cNvPr id="10" name="Text 8"/>
          <p:cNvSpPr/>
          <p:nvPr/>
        </p:nvSpPr>
        <p:spPr>
          <a:xfrm>
            <a:off x="640080" y="3054096"/>
            <a:ext cx="320040" cy="320040"/>
          </a:xfrm>
          <a:prstGeom prst="ellipse">
            <a:avLst/>
          </a:prstGeom>
          <a:solidFill>
            <a:srgbClr val="2E86C1"/>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p:nvPr/>
        </p:nvSpPr>
        <p:spPr>
          <a:xfrm>
            <a:off x="1097280" y="3054096"/>
            <a:ext cx="3474720" cy="41148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OCR Engine يقرأ الفقاعات (threshold configurable)</a:t>
            </a:r>
            <a:endParaRPr lang="en-US" sz="1200" dirty="0"/>
          </a:p>
        </p:txBody>
      </p:sp>
      <p:sp>
        <p:nvSpPr>
          <p:cNvPr id="12" name="Text 10"/>
          <p:cNvSpPr/>
          <p:nvPr/>
        </p:nvSpPr>
        <p:spPr>
          <a:xfrm>
            <a:off x="640080" y="3584448"/>
            <a:ext cx="320040" cy="320040"/>
          </a:xfrm>
          <a:prstGeom prst="ellipse">
            <a:avLst/>
          </a:prstGeom>
          <a:solidFill>
            <a:srgbClr val="2E86C1"/>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p:nvPr/>
        </p:nvSpPr>
        <p:spPr>
          <a:xfrm>
            <a:off x="1097280" y="3584448"/>
            <a:ext cx="3474720" cy="41148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التصحيح التلقائي + حساب الدرجات</a:t>
            </a:r>
            <a:endParaRPr lang="en-US" sz="1200" dirty="0"/>
          </a:p>
        </p:txBody>
      </p:sp>
      <p:sp>
        <p:nvSpPr>
          <p:cNvPr id="14" name="Text 12"/>
          <p:cNvSpPr/>
          <p:nvPr/>
        </p:nvSpPr>
        <p:spPr>
          <a:xfrm>
            <a:off x="640080" y="4114800"/>
            <a:ext cx="320040" cy="320040"/>
          </a:xfrm>
          <a:prstGeom prst="ellipse">
            <a:avLst/>
          </a:prstGeom>
          <a:solidFill>
            <a:srgbClr val="2E86C1"/>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5" name="Text 13"/>
          <p:cNvSpPr/>
          <p:nvPr/>
        </p:nvSpPr>
        <p:spPr>
          <a:xfrm>
            <a:off x="1097280" y="4114800"/>
            <a:ext cx="3474720" cy="41148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مراجعة يدوية للإجابات غير الواضحة (needsReview)</a:t>
            </a:r>
            <a:endParaRPr lang="en-US" sz="1200" dirty="0"/>
          </a:p>
        </p:txBody>
      </p:sp>
      <p:sp>
        <p:nvSpPr>
          <p:cNvPr id="16" name="Text 14"/>
          <p:cNvSpPr/>
          <p:nvPr/>
        </p:nvSpPr>
        <p:spPr>
          <a:xfrm>
            <a:off x="4846320" y="1005840"/>
            <a:ext cx="3840480" cy="365760"/>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إعدادات OCR</a:t>
            </a:r>
            <a:endParaRPr lang="en-US" sz="1800" dirty="0"/>
          </a:p>
        </p:txBody>
      </p:sp>
      <p:sp>
        <p:nvSpPr>
          <p:cNvPr id="17" name="Shape 15"/>
          <p:cNvSpPr/>
          <p:nvPr/>
        </p:nvSpPr>
        <p:spPr>
          <a:xfrm>
            <a:off x="4846320" y="1463040"/>
            <a:ext cx="3840480" cy="1828800"/>
          </a:xfrm>
          <a:prstGeom prst="roundRect">
            <a:avLst>
              <a:gd name="adj" fmla="val 5000"/>
            </a:avLst>
          </a:prstGeom>
          <a:solidFill>
            <a:srgbClr val="FFFFFF"/>
          </a:solidFill>
          <a:ln/>
          <a:effectLst>
            <a:outerShdw sx="100000" sy="100000" kx="0" ky="0" algn="bl" rotWithShape="0" blurRad="101600" dist="38100" dir="2700000">
              <a:srgbClr val="000000">
                <a:alpha val="18000"/>
              </a:srgbClr>
            </a:outerShdw>
          </a:effectLst>
        </p:spPr>
      </p:sp>
      <p:sp>
        <p:nvSpPr>
          <p:cNvPr id="18" name="Text 16"/>
          <p:cNvSpPr/>
          <p:nvPr/>
        </p:nvSpPr>
        <p:spPr>
          <a:xfrm>
            <a:off x="5029200" y="1554480"/>
            <a:ext cx="3474720" cy="36576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Threshold: </a:t>
            </a:r>
            <a:pPr indent="0" marL="0">
              <a:buNone/>
            </a:pPr>
            <a:r>
              <a:rPr lang="en-US" sz="1200" dirty="0">
                <a:solidFill>
                  <a:srgbClr val="2D3748"/>
                </a:solidFill>
                <a:latin typeface="Calibri" pitchFamily="34" charset="0"/>
                <a:ea typeface="Calibri" pitchFamily="34" charset="-122"/>
                <a:cs typeface="Calibri" pitchFamily="34" charset="-120"/>
              </a:rPr>
              <a:t>140 (configurable per exam)</a:t>
            </a:r>
            <a:endParaRPr lang="en-US" sz="1200" dirty="0"/>
          </a:p>
        </p:txBody>
      </p:sp>
      <p:sp>
        <p:nvSpPr>
          <p:cNvPr id="19" name="Text 17"/>
          <p:cNvSpPr/>
          <p:nvPr/>
        </p:nvSpPr>
        <p:spPr>
          <a:xfrm>
            <a:off x="5029200" y="1947672"/>
            <a:ext cx="3474720" cy="36576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Blur: </a:t>
            </a:r>
            <a:pPr indent="0" marL="0">
              <a:buNone/>
            </a:pPr>
            <a:r>
              <a:rPr lang="en-US" sz="1200" dirty="0">
                <a:solidFill>
                  <a:srgbClr val="2D3748"/>
                </a:solidFill>
                <a:latin typeface="Calibri" pitchFamily="34" charset="0"/>
                <a:ea typeface="Calibri" pitchFamily="34" charset="-122"/>
                <a:cs typeface="Calibri" pitchFamily="34" charset="-120"/>
              </a:rPr>
              <a:t>3 (noise reduction)</a:t>
            </a:r>
            <a:endParaRPr lang="en-US" sz="1200" dirty="0"/>
          </a:p>
        </p:txBody>
      </p:sp>
      <p:sp>
        <p:nvSpPr>
          <p:cNvPr id="20" name="Text 18"/>
          <p:cNvSpPr/>
          <p:nvPr/>
        </p:nvSpPr>
        <p:spPr>
          <a:xfrm>
            <a:off x="5029200" y="2340864"/>
            <a:ext cx="3474720" cy="36576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Invert: </a:t>
            </a:r>
            <a:pPr indent="0" marL="0">
              <a:buNone/>
            </a:pPr>
            <a:r>
              <a:rPr lang="en-US" sz="1200" dirty="0">
                <a:solidFill>
                  <a:srgbClr val="2D3748"/>
                </a:solidFill>
                <a:latin typeface="Calibri" pitchFamily="34" charset="0"/>
                <a:ea typeface="Calibri" pitchFamily="34" charset="-122"/>
                <a:cs typeface="Calibri" pitchFamily="34" charset="-120"/>
              </a:rPr>
              <a:t>true (dark bubbles on light bg)</a:t>
            </a:r>
            <a:endParaRPr lang="en-US" sz="1200" dirty="0"/>
          </a:p>
        </p:txBody>
      </p:sp>
      <p:sp>
        <p:nvSpPr>
          <p:cNvPr id="21" name="Text 19"/>
          <p:cNvSpPr/>
          <p:nvPr/>
        </p:nvSpPr>
        <p:spPr>
          <a:xfrm>
            <a:off x="5029200" y="2734056"/>
            <a:ext cx="3474720" cy="36576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Confidence: </a:t>
            </a:r>
            <a:pPr indent="0" marL="0">
              <a:buNone/>
            </a:pPr>
            <a:r>
              <a:rPr lang="en-US" sz="1200" dirty="0">
                <a:solidFill>
                  <a:srgbClr val="2D3748"/>
                </a:solidFill>
                <a:latin typeface="Calibri" pitchFamily="34" charset="0"/>
                <a:ea typeface="Calibri" pitchFamily="34" charset="-122"/>
                <a:cs typeface="Calibri" pitchFamily="34" charset="-120"/>
              </a:rPr>
              <a:t>Score per answer for review</a:t>
            </a:r>
            <a:endParaRPr lang="en-US" sz="1200" dirty="0"/>
          </a:p>
        </p:txBody>
      </p:sp>
      <p:sp>
        <p:nvSpPr>
          <p:cNvPr id="22" name="Text 20"/>
          <p:cNvSpPr/>
          <p:nvPr/>
        </p:nvSpPr>
        <p:spPr>
          <a:xfrm>
            <a:off x="4846320" y="3474720"/>
            <a:ext cx="3840480" cy="36576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Paper Status Pipeline</a:t>
            </a:r>
            <a:endParaRPr lang="en-US" sz="1400" dirty="0"/>
          </a:p>
        </p:txBody>
      </p:sp>
      <p:sp>
        <p:nvSpPr>
          <p:cNvPr id="23" name="Shape 21"/>
          <p:cNvSpPr/>
          <p:nvPr/>
        </p:nvSpPr>
        <p:spPr>
          <a:xfrm>
            <a:off x="4846320" y="3886200"/>
            <a:ext cx="713232" cy="365760"/>
          </a:xfrm>
          <a:prstGeom prst="roundRect">
            <a:avLst>
              <a:gd name="adj" fmla="val 12500"/>
            </a:avLst>
          </a:prstGeom>
          <a:solidFill>
            <a:srgbClr val="2E86C1"/>
          </a:solidFill>
          <a:ln/>
        </p:spPr>
      </p:sp>
      <p:sp>
        <p:nvSpPr>
          <p:cNvPr id="24" name="Text 22"/>
          <p:cNvSpPr/>
          <p:nvPr/>
        </p:nvSpPr>
        <p:spPr>
          <a:xfrm>
            <a:off x="4846320" y="3886200"/>
            <a:ext cx="713232" cy="36576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Generated</a:t>
            </a:r>
            <a:endParaRPr lang="en-US" sz="700" dirty="0"/>
          </a:p>
        </p:txBody>
      </p:sp>
      <p:sp>
        <p:nvSpPr>
          <p:cNvPr id="25" name="Shape 23"/>
          <p:cNvSpPr/>
          <p:nvPr/>
        </p:nvSpPr>
        <p:spPr>
          <a:xfrm>
            <a:off x="5614416" y="3886200"/>
            <a:ext cx="713232" cy="365760"/>
          </a:xfrm>
          <a:prstGeom prst="roundRect">
            <a:avLst>
              <a:gd name="adj" fmla="val 12500"/>
            </a:avLst>
          </a:prstGeom>
          <a:solidFill>
            <a:srgbClr val="2E86C1"/>
          </a:solidFill>
          <a:ln/>
        </p:spPr>
      </p:sp>
      <p:sp>
        <p:nvSpPr>
          <p:cNvPr id="26" name="Text 24"/>
          <p:cNvSpPr/>
          <p:nvPr/>
        </p:nvSpPr>
        <p:spPr>
          <a:xfrm>
            <a:off x="5614416" y="3886200"/>
            <a:ext cx="713232" cy="36576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Printed</a:t>
            </a:r>
            <a:endParaRPr lang="en-US" sz="700" dirty="0"/>
          </a:p>
        </p:txBody>
      </p:sp>
      <p:sp>
        <p:nvSpPr>
          <p:cNvPr id="27" name="Shape 25"/>
          <p:cNvSpPr/>
          <p:nvPr/>
        </p:nvSpPr>
        <p:spPr>
          <a:xfrm>
            <a:off x="6382512" y="3886200"/>
            <a:ext cx="713232" cy="365760"/>
          </a:xfrm>
          <a:prstGeom prst="roundRect">
            <a:avLst>
              <a:gd name="adj" fmla="val 12500"/>
            </a:avLst>
          </a:prstGeom>
          <a:solidFill>
            <a:srgbClr val="2E86C1"/>
          </a:solidFill>
          <a:ln/>
        </p:spPr>
      </p:sp>
      <p:sp>
        <p:nvSpPr>
          <p:cNvPr id="28" name="Text 26"/>
          <p:cNvSpPr/>
          <p:nvPr/>
        </p:nvSpPr>
        <p:spPr>
          <a:xfrm>
            <a:off x="6382512" y="3886200"/>
            <a:ext cx="713232" cy="36576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Scanned</a:t>
            </a:r>
            <a:endParaRPr lang="en-US" sz="700" dirty="0"/>
          </a:p>
        </p:txBody>
      </p:sp>
      <p:sp>
        <p:nvSpPr>
          <p:cNvPr id="29" name="Shape 27"/>
          <p:cNvSpPr/>
          <p:nvPr/>
        </p:nvSpPr>
        <p:spPr>
          <a:xfrm>
            <a:off x="7150608" y="3886200"/>
            <a:ext cx="713232" cy="365760"/>
          </a:xfrm>
          <a:prstGeom prst="roundRect">
            <a:avLst>
              <a:gd name="adj" fmla="val 12500"/>
            </a:avLst>
          </a:prstGeom>
          <a:solidFill>
            <a:srgbClr val="2E86C1"/>
          </a:solidFill>
          <a:ln/>
        </p:spPr>
      </p:sp>
      <p:sp>
        <p:nvSpPr>
          <p:cNvPr id="30" name="Text 28"/>
          <p:cNvSpPr/>
          <p:nvPr/>
        </p:nvSpPr>
        <p:spPr>
          <a:xfrm>
            <a:off x="7150608" y="3886200"/>
            <a:ext cx="713232" cy="36576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Processed</a:t>
            </a:r>
            <a:endParaRPr lang="en-US" sz="700" dirty="0"/>
          </a:p>
        </p:txBody>
      </p:sp>
      <p:sp>
        <p:nvSpPr>
          <p:cNvPr id="31" name="Shape 29"/>
          <p:cNvSpPr/>
          <p:nvPr/>
        </p:nvSpPr>
        <p:spPr>
          <a:xfrm>
            <a:off x="7918704" y="3886200"/>
            <a:ext cx="713232" cy="365760"/>
          </a:xfrm>
          <a:prstGeom prst="roundRect">
            <a:avLst>
              <a:gd name="adj" fmla="val 12500"/>
            </a:avLst>
          </a:prstGeom>
          <a:solidFill>
            <a:srgbClr val="1E6F5C"/>
          </a:solidFill>
          <a:ln/>
        </p:spPr>
      </p:sp>
      <p:sp>
        <p:nvSpPr>
          <p:cNvPr id="32" name="Text 30"/>
          <p:cNvSpPr/>
          <p:nvPr/>
        </p:nvSpPr>
        <p:spPr>
          <a:xfrm>
            <a:off x="7918704" y="3886200"/>
            <a:ext cx="713232" cy="36576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Graded</a:t>
            </a:r>
            <a:endParaRPr lang="en-US" sz="700" dirty="0"/>
          </a:p>
        </p:txBody>
      </p:sp>
      <p:sp>
        <p:nvSpPr>
          <p:cNvPr id="33" name="Text 31"/>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10 / 20</a:t>
            </a:r>
            <a:endParaRPr lang="en-US" sz="900" dirty="0"/>
          </a:p>
        </p:txBody>
      </p:sp>
      <p:pic>
        <p:nvPicPr>
          <p:cNvPr id="34"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1B2A4A"/>
                </a:solidFill>
                <a:latin typeface="Calibri" pitchFamily="34" charset="0"/>
                <a:ea typeface="Calibri" pitchFamily="34" charset="-122"/>
                <a:cs typeface="Calibri" pitchFamily="34" charset="-120"/>
              </a:rPr>
              <a:t>المنصة التعليمية — 5 أدوار</a:t>
            </a:r>
            <a:endParaRPr lang="en-US" sz="3200" dirty="0"/>
          </a:p>
        </p:txBody>
      </p:sp>
      <p:sp>
        <p:nvSpPr>
          <p:cNvPr id="3" name="Shape 1"/>
          <p:cNvSpPr/>
          <p:nvPr/>
        </p:nvSpPr>
        <p:spPr>
          <a:xfrm>
            <a:off x="548640" y="1005840"/>
            <a:ext cx="8046720" cy="621792"/>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4" name="Shape 2"/>
          <p:cNvSpPr/>
          <p:nvPr/>
        </p:nvSpPr>
        <p:spPr>
          <a:xfrm>
            <a:off x="777240" y="1097280"/>
            <a:ext cx="438912" cy="438912"/>
          </a:xfrm>
          <a:prstGeom prst="ellipse">
            <a:avLst/>
          </a:prstGeom>
          <a:solidFill>
            <a:srgbClr val="C0392B"/>
          </a:solidFill>
          <a:ln/>
        </p:spPr>
      </p:sp>
      <p:sp>
        <p:nvSpPr>
          <p:cNvPr id="5" name="Text 3"/>
          <p:cNvSpPr/>
          <p:nvPr/>
        </p:nvSpPr>
        <p:spPr>
          <a:xfrm>
            <a:off x="777240" y="1097280"/>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6" name="Text 4"/>
          <p:cNvSpPr/>
          <p:nvPr/>
        </p:nvSpPr>
        <p:spPr>
          <a:xfrm>
            <a:off x="1417320" y="1005840"/>
            <a:ext cx="1280160" cy="621792"/>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Admin</a:t>
            </a:r>
            <a:endParaRPr lang="en-US" sz="1500" dirty="0"/>
          </a:p>
        </p:txBody>
      </p:sp>
      <p:sp>
        <p:nvSpPr>
          <p:cNvPr id="7" name="Text 5"/>
          <p:cNvSpPr/>
          <p:nvPr/>
        </p:nvSpPr>
        <p:spPr>
          <a:xfrm>
            <a:off x="2697480" y="1005840"/>
            <a:ext cx="1097280" cy="621792"/>
          </a:xfrm>
          <a:prstGeom prst="rect">
            <a:avLst/>
          </a:prstGeom>
          <a:noFill/>
          <a:ln/>
        </p:spPr>
        <p:txBody>
          <a:bodyPr wrap="square" lIns="0" tIns="0" rIns="0" bIns="0" rtlCol="0" anchor="ctr"/>
          <a:lstStyle/>
          <a:p>
            <a:pPr indent="0" marL="0">
              <a:buNone/>
            </a:pPr>
            <a:r>
              <a:rPr lang="en-US" sz="1200" dirty="0">
                <a:solidFill>
                  <a:srgbClr val="C0392B"/>
                </a:solidFill>
                <a:latin typeface="Calibri" pitchFamily="34" charset="0"/>
                <a:ea typeface="Calibri" pitchFamily="34" charset="-122"/>
                <a:cs typeface="Calibri" pitchFamily="34" charset="-120"/>
              </a:rPr>
              <a:t>المسؤول</a:t>
            </a:r>
            <a:endParaRPr lang="en-US" sz="1200" dirty="0"/>
          </a:p>
        </p:txBody>
      </p:sp>
      <p:sp>
        <p:nvSpPr>
          <p:cNvPr id="8" name="Text 6"/>
          <p:cNvSpPr/>
          <p:nvPr/>
        </p:nvSpPr>
        <p:spPr>
          <a:xfrm>
            <a:off x="3840480" y="1005840"/>
            <a:ext cx="4572000" cy="62179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إدارة المستخدمين، الكورسات، التقارير، سجل العمليات</a:t>
            </a:r>
            <a:endParaRPr lang="en-US" sz="1200" dirty="0"/>
          </a:p>
        </p:txBody>
      </p:sp>
      <p:sp>
        <p:nvSpPr>
          <p:cNvPr id="9" name="Shape 7"/>
          <p:cNvSpPr/>
          <p:nvPr/>
        </p:nvSpPr>
        <p:spPr>
          <a:xfrm>
            <a:off x="548640" y="1755648"/>
            <a:ext cx="8046720" cy="621792"/>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10" name="Shape 8"/>
          <p:cNvSpPr/>
          <p:nvPr/>
        </p:nvSpPr>
        <p:spPr>
          <a:xfrm>
            <a:off x="777240" y="1847088"/>
            <a:ext cx="438912" cy="438912"/>
          </a:xfrm>
          <a:prstGeom prst="ellipse">
            <a:avLst/>
          </a:prstGeom>
          <a:solidFill>
            <a:srgbClr val="2E86C1"/>
          </a:solidFill>
          <a:ln/>
        </p:spPr>
      </p:sp>
      <p:sp>
        <p:nvSpPr>
          <p:cNvPr id="11" name="Text 9"/>
          <p:cNvSpPr/>
          <p:nvPr/>
        </p:nvSpPr>
        <p:spPr>
          <a:xfrm>
            <a:off x="777240" y="1847088"/>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a:t>
            </a:r>
            <a:endParaRPr lang="en-US" sz="1600" dirty="0"/>
          </a:p>
        </p:txBody>
      </p:sp>
      <p:sp>
        <p:nvSpPr>
          <p:cNvPr id="12" name="Text 10"/>
          <p:cNvSpPr/>
          <p:nvPr/>
        </p:nvSpPr>
        <p:spPr>
          <a:xfrm>
            <a:off x="1417320" y="1755648"/>
            <a:ext cx="1280160" cy="621792"/>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Teacher</a:t>
            </a:r>
            <a:endParaRPr lang="en-US" sz="1500" dirty="0"/>
          </a:p>
        </p:txBody>
      </p:sp>
      <p:sp>
        <p:nvSpPr>
          <p:cNvPr id="13" name="Text 11"/>
          <p:cNvSpPr/>
          <p:nvPr/>
        </p:nvSpPr>
        <p:spPr>
          <a:xfrm>
            <a:off x="2697480" y="1755648"/>
            <a:ext cx="1097280" cy="621792"/>
          </a:xfrm>
          <a:prstGeom prst="rect">
            <a:avLst/>
          </a:prstGeom>
          <a:noFill/>
          <a:ln/>
        </p:spPr>
        <p:txBody>
          <a:bodyPr wrap="square" lIns="0" tIns="0" rIns="0" bIns="0" rtlCol="0" anchor="ctr"/>
          <a:lstStyle/>
          <a:p>
            <a:pPr indent="0" marL="0">
              <a:buNone/>
            </a:pPr>
            <a:r>
              <a:rPr lang="en-US" sz="1200" dirty="0">
                <a:solidFill>
                  <a:srgbClr val="2E86C1"/>
                </a:solidFill>
                <a:latin typeface="Calibri" pitchFamily="34" charset="0"/>
                <a:ea typeface="Calibri" pitchFamily="34" charset="-122"/>
                <a:cs typeface="Calibri" pitchFamily="34" charset="-120"/>
              </a:rPr>
              <a:t>المحاضر</a:t>
            </a:r>
            <a:endParaRPr lang="en-US" sz="1200" dirty="0"/>
          </a:p>
        </p:txBody>
      </p:sp>
      <p:sp>
        <p:nvSpPr>
          <p:cNvPr id="14" name="Text 12"/>
          <p:cNvSpPr/>
          <p:nvPr/>
        </p:nvSpPr>
        <p:spPr>
          <a:xfrm>
            <a:off x="3840480" y="1755648"/>
            <a:ext cx="4572000" cy="62179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الحضور، الامتحانات، الواجبات، الأنشطة، الرسائل</a:t>
            </a:r>
            <a:endParaRPr lang="en-US" sz="1200" dirty="0"/>
          </a:p>
        </p:txBody>
      </p:sp>
      <p:sp>
        <p:nvSpPr>
          <p:cNvPr id="15" name="Shape 13"/>
          <p:cNvSpPr/>
          <p:nvPr/>
        </p:nvSpPr>
        <p:spPr>
          <a:xfrm>
            <a:off x="548640" y="2505456"/>
            <a:ext cx="8046720" cy="621792"/>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16" name="Shape 14"/>
          <p:cNvSpPr/>
          <p:nvPr/>
        </p:nvSpPr>
        <p:spPr>
          <a:xfrm>
            <a:off x="777240" y="2596896"/>
            <a:ext cx="438912" cy="438912"/>
          </a:xfrm>
          <a:prstGeom prst="ellipse">
            <a:avLst/>
          </a:prstGeom>
          <a:solidFill>
            <a:srgbClr val="1E6F5C"/>
          </a:solidFill>
          <a:ln/>
        </p:spPr>
      </p:sp>
      <p:sp>
        <p:nvSpPr>
          <p:cNvPr id="17" name="Text 15"/>
          <p:cNvSpPr/>
          <p:nvPr/>
        </p:nvSpPr>
        <p:spPr>
          <a:xfrm>
            <a:off x="777240" y="2596896"/>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18" name="Text 16"/>
          <p:cNvSpPr/>
          <p:nvPr/>
        </p:nvSpPr>
        <p:spPr>
          <a:xfrm>
            <a:off x="1417320" y="2505456"/>
            <a:ext cx="1280160" cy="621792"/>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Student</a:t>
            </a:r>
            <a:endParaRPr lang="en-US" sz="1500" dirty="0"/>
          </a:p>
        </p:txBody>
      </p:sp>
      <p:sp>
        <p:nvSpPr>
          <p:cNvPr id="19" name="Text 17"/>
          <p:cNvSpPr/>
          <p:nvPr/>
        </p:nvSpPr>
        <p:spPr>
          <a:xfrm>
            <a:off x="2697480" y="2505456"/>
            <a:ext cx="1097280" cy="621792"/>
          </a:xfrm>
          <a:prstGeom prst="rect">
            <a:avLst/>
          </a:prstGeom>
          <a:noFill/>
          <a:ln/>
        </p:spPr>
        <p:txBody>
          <a:bodyPr wrap="square" lIns="0" tIns="0" rIns="0" bIns="0" rtlCol="0" anchor="ctr"/>
          <a:lstStyle/>
          <a:p>
            <a:pPr indent="0" marL="0">
              <a:buNone/>
            </a:pPr>
            <a:r>
              <a:rPr lang="en-US" sz="1200" dirty="0">
                <a:solidFill>
                  <a:srgbClr val="1E6F5C"/>
                </a:solidFill>
                <a:latin typeface="Calibri" pitchFamily="34" charset="0"/>
                <a:ea typeface="Calibri" pitchFamily="34" charset="-122"/>
                <a:cs typeface="Calibri" pitchFamily="34" charset="-120"/>
              </a:rPr>
              <a:t>الطالب</a:t>
            </a:r>
            <a:endParaRPr lang="en-US" sz="1200" dirty="0"/>
          </a:p>
        </p:txBody>
      </p:sp>
      <p:sp>
        <p:nvSpPr>
          <p:cNvPr id="20" name="Text 18"/>
          <p:cNvSpPr/>
          <p:nvPr/>
        </p:nvSpPr>
        <p:spPr>
          <a:xfrm>
            <a:off x="3840480" y="2505456"/>
            <a:ext cx="4572000" cy="62179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عرض الحضور، النتائج، الواجبات، الأنشطة</a:t>
            </a:r>
            <a:endParaRPr lang="en-US" sz="1200" dirty="0"/>
          </a:p>
        </p:txBody>
      </p:sp>
      <p:sp>
        <p:nvSpPr>
          <p:cNvPr id="21" name="Shape 19"/>
          <p:cNvSpPr/>
          <p:nvPr/>
        </p:nvSpPr>
        <p:spPr>
          <a:xfrm>
            <a:off x="548640" y="3255264"/>
            <a:ext cx="8046720" cy="621792"/>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22" name="Shape 20"/>
          <p:cNvSpPr/>
          <p:nvPr/>
        </p:nvSpPr>
        <p:spPr>
          <a:xfrm>
            <a:off x="777240" y="3346704"/>
            <a:ext cx="438912" cy="438912"/>
          </a:xfrm>
          <a:prstGeom prst="ellipse">
            <a:avLst/>
          </a:prstGeom>
          <a:solidFill>
            <a:srgbClr val="8E44AD"/>
          </a:solidFill>
          <a:ln/>
        </p:spPr>
      </p:sp>
      <p:sp>
        <p:nvSpPr>
          <p:cNvPr id="23" name="Text 21"/>
          <p:cNvSpPr/>
          <p:nvPr/>
        </p:nvSpPr>
        <p:spPr>
          <a:xfrm>
            <a:off x="777240" y="3346704"/>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24" name="Text 22"/>
          <p:cNvSpPr/>
          <p:nvPr/>
        </p:nvSpPr>
        <p:spPr>
          <a:xfrm>
            <a:off x="1417320" y="3255264"/>
            <a:ext cx="1280160" cy="621792"/>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Advisor</a:t>
            </a:r>
            <a:endParaRPr lang="en-US" sz="1500" dirty="0"/>
          </a:p>
        </p:txBody>
      </p:sp>
      <p:sp>
        <p:nvSpPr>
          <p:cNvPr id="25" name="Text 23"/>
          <p:cNvSpPr/>
          <p:nvPr/>
        </p:nvSpPr>
        <p:spPr>
          <a:xfrm>
            <a:off x="2697480" y="3255264"/>
            <a:ext cx="1097280" cy="621792"/>
          </a:xfrm>
          <a:prstGeom prst="rect">
            <a:avLst/>
          </a:prstGeom>
          <a:noFill/>
          <a:ln/>
        </p:spPr>
        <p:txBody>
          <a:bodyPr wrap="square" lIns="0" tIns="0" rIns="0" bIns="0" rtlCol="0" anchor="ctr"/>
          <a:lstStyle/>
          <a:p>
            <a:pPr indent="0" marL="0">
              <a:buNone/>
            </a:pPr>
            <a:r>
              <a:rPr lang="en-US" sz="1200" dirty="0">
                <a:solidFill>
                  <a:srgbClr val="8E44AD"/>
                </a:solidFill>
                <a:latin typeface="Calibri" pitchFamily="34" charset="0"/>
                <a:ea typeface="Calibri" pitchFamily="34" charset="-122"/>
                <a:cs typeface="Calibri" pitchFamily="34" charset="-120"/>
              </a:rPr>
              <a:t>المرشد الأكاديمي</a:t>
            </a:r>
            <a:endParaRPr lang="en-US" sz="1200" dirty="0"/>
          </a:p>
        </p:txBody>
      </p:sp>
      <p:sp>
        <p:nvSpPr>
          <p:cNvPr id="26" name="Text 24"/>
          <p:cNvSpPr/>
          <p:nvPr/>
        </p:nvSpPr>
        <p:spPr>
          <a:xfrm>
            <a:off x="3840480" y="3255264"/>
            <a:ext cx="4572000" cy="62179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متابعة الطلاب، التوصيات، الاجتماعات، التقارير</a:t>
            </a:r>
            <a:endParaRPr lang="en-US" sz="1200" dirty="0"/>
          </a:p>
        </p:txBody>
      </p:sp>
      <p:sp>
        <p:nvSpPr>
          <p:cNvPr id="27" name="Shape 25"/>
          <p:cNvSpPr/>
          <p:nvPr/>
        </p:nvSpPr>
        <p:spPr>
          <a:xfrm>
            <a:off x="548640" y="4005072"/>
            <a:ext cx="8046720" cy="621792"/>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28" name="Shape 26"/>
          <p:cNvSpPr/>
          <p:nvPr/>
        </p:nvSpPr>
        <p:spPr>
          <a:xfrm>
            <a:off x="777240" y="4096512"/>
            <a:ext cx="438912" cy="438912"/>
          </a:xfrm>
          <a:prstGeom prst="ellipse">
            <a:avLst/>
          </a:prstGeom>
          <a:solidFill>
            <a:srgbClr val="F5A623"/>
          </a:solidFill>
          <a:ln/>
        </p:spPr>
      </p:sp>
      <p:sp>
        <p:nvSpPr>
          <p:cNvPr id="29" name="Text 27"/>
          <p:cNvSpPr/>
          <p:nvPr/>
        </p:nvSpPr>
        <p:spPr>
          <a:xfrm>
            <a:off x="777240" y="4096512"/>
            <a:ext cx="438912"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a:t>
            </a:r>
            <a:endParaRPr lang="en-US" sz="1600" dirty="0"/>
          </a:p>
        </p:txBody>
      </p:sp>
      <p:sp>
        <p:nvSpPr>
          <p:cNvPr id="30" name="Text 28"/>
          <p:cNvSpPr/>
          <p:nvPr/>
        </p:nvSpPr>
        <p:spPr>
          <a:xfrm>
            <a:off x="1417320" y="4005072"/>
            <a:ext cx="1280160" cy="621792"/>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TA</a:t>
            </a:r>
            <a:endParaRPr lang="en-US" sz="1500" dirty="0"/>
          </a:p>
        </p:txBody>
      </p:sp>
      <p:sp>
        <p:nvSpPr>
          <p:cNvPr id="31" name="Text 29"/>
          <p:cNvSpPr/>
          <p:nvPr/>
        </p:nvSpPr>
        <p:spPr>
          <a:xfrm>
            <a:off x="2697480" y="4005072"/>
            <a:ext cx="1097280" cy="621792"/>
          </a:xfrm>
          <a:prstGeom prst="rect">
            <a:avLst/>
          </a:prstGeom>
          <a:noFill/>
          <a:ln/>
        </p:spPr>
        <p:txBody>
          <a:bodyPr wrap="square" lIns="0" tIns="0" rIns="0" bIns="0" rtlCol="0" anchor="ctr"/>
          <a:lstStyle/>
          <a:p>
            <a:pPr indent="0" marL="0">
              <a:buNone/>
            </a:pPr>
            <a:r>
              <a:rPr lang="en-US" sz="1200" dirty="0">
                <a:solidFill>
                  <a:srgbClr val="F5A623"/>
                </a:solidFill>
                <a:latin typeface="Calibri" pitchFamily="34" charset="0"/>
                <a:ea typeface="Calibri" pitchFamily="34" charset="-122"/>
                <a:cs typeface="Calibri" pitchFamily="34" charset="-120"/>
              </a:rPr>
              <a:t>المعيد</a:t>
            </a:r>
            <a:endParaRPr lang="en-US" sz="1200" dirty="0"/>
          </a:p>
        </p:txBody>
      </p:sp>
      <p:sp>
        <p:nvSpPr>
          <p:cNvPr id="32" name="Text 30"/>
          <p:cNvSpPr/>
          <p:nvPr/>
        </p:nvSpPr>
        <p:spPr>
          <a:xfrm>
            <a:off x="3840480" y="4005072"/>
            <a:ext cx="4572000" cy="62179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مساعدة المحاضر في التقييم والمتابعة</a:t>
            </a:r>
            <a:endParaRPr lang="en-US" sz="1200" dirty="0"/>
          </a:p>
        </p:txBody>
      </p:sp>
      <p:sp>
        <p:nvSpPr>
          <p:cNvPr id="33" name="Text 31"/>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11 / 20</a:t>
            </a:r>
            <a:endParaRPr lang="en-US" sz="900" dirty="0"/>
          </a:p>
        </p:txBody>
      </p:sp>
      <p:pic>
        <p:nvPicPr>
          <p:cNvPr id="34"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التقنيات المستخدمة — Tech Stack</a:t>
            </a:r>
            <a:endParaRPr lang="en-US" sz="3200" dirty="0"/>
          </a:p>
        </p:txBody>
      </p:sp>
      <p:sp>
        <p:nvSpPr>
          <p:cNvPr id="3" name="Shape 1"/>
          <p:cNvSpPr/>
          <p:nvPr/>
        </p:nvSpPr>
        <p:spPr>
          <a:xfrm>
            <a:off x="548640" y="1005840"/>
            <a:ext cx="3931920" cy="1691640"/>
          </a:xfrm>
          <a:prstGeom prst="roundRect">
            <a:avLst>
              <a:gd name="adj" fmla="val 6486"/>
            </a:avLst>
          </a:prstGeom>
          <a:solidFill>
            <a:srgbClr val="1B2A4A"/>
          </a:solidFill>
          <a:ln/>
        </p:spPr>
      </p:sp>
      <p:sp>
        <p:nvSpPr>
          <p:cNvPr id="4" name="Text 2"/>
          <p:cNvSpPr/>
          <p:nvPr/>
        </p:nvSpPr>
        <p:spPr>
          <a:xfrm>
            <a:off x="548640" y="1097280"/>
            <a:ext cx="3931920" cy="411480"/>
          </a:xfrm>
          <a:prstGeom prst="rect">
            <a:avLst/>
          </a:prstGeom>
          <a:noFill/>
          <a:ln/>
        </p:spPr>
        <p:txBody>
          <a:bodyPr wrap="square" lIns="0" tIns="0" rIns="0" bIns="0" rtlCol="0" anchor="ctr"/>
          <a:lstStyle/>
          <a:p>
            <a:pPr algn="ctr" indent="0" marL="0">
              <a:buNone/>
            </a:pPr>
            <a:r>
              <a:rPr lang="en-US" sz="1800" b="1" dirty="0">
                <a:solidFill>
                  <a:srgbClr val="2E86C1"/>
                </a:solidFill>
                <a:latin typeface="Calibri" pitchFamily="34" charset="0"/>
                <a:ea typeface="Calibri" pitchFamily="34" charset="-122"/>
                <a:cs typeface="Calibri" pitchFamily="34" charset="-120"/>
              </a:rPr>
              <a:t>Frontend</a:t>
            </a:r>
            <a:endParaRPr lang="en-US" sz="1800" dirty="0"/>
          </a:p>
        </p:txBody>
      </p:sp>
      <p:sp>
        <p:nvSpPr>
          <p:cNvPr id="5" name="Text 3"/>
          <p:cNvSpPr/>
          <p:nvPr/>
        </p:nvSpPr>
        <p:spPr>
          <a:xfrm>
            <a:off x="914400" y="1508760"/>
            <a:ext cx="3200400" cy="1097280"/>
          </a:xfrm>
          <a:prstGeom prst="rect">
            <a:avLst/>
          </a:prstGeom>
          <a:noFill/>
          <a:ln/>
        </p:spPr>
        <p:txBody>
          <a:bodyPr wrap="square" rtlCol="0" anchor="ctr"/>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Next.js (App Router)</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TypeScript</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Tailwind CSS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React</a:t>
            </a:r>
            <a:endParaRPr lang="en-US" sz="1300" dirty="0"/>
          </a:p>
        </p:txBody>
      </p:sp>
      <p:sp>
        <p:nvSpPr>
          <p:cNvPr id="6" name="Shape 4"/>
          <p:cNvSpPr/>
          <p:nvPr/>
        </p:nvSpPr>
        <p:spPr>
          <a:xfrm>
            <a:off x="4846320" y="1005840"/>
            <a:ext cx="3931920" cy="1691640"/>
          </a:xfrm>
          <a:prstGeom prst="roundRect">
            <a:avLst>
              <a:gd name="adj" fmla="val 6486"/>
            </a:avLst>
          </a:prstGeom>
          <a:solidFill>
            <a:srgbClr val="1B2A4A"/>
          </a:solidFill>
          <a:ln/>
        </p:spPr>
      </p:sp>
      <p:sp>
        <p:nvSpPr>
          <p:cNvPr id="7" name="Text 5"/>
          <p:cNvSpPr/>
          <p:nvPr/>
        </p:nvSpPr>
        <p:spPr>
          <a:xfrm>
            <a:off x="4846320" y="1097280"/>
            <a:ext cx="3931920" cy="411480"/>
          </a:xfrm>
          <a:prstGeom prst="rect">
            <a:avLst/>
          </a:prstGeom>
          <a:noFill/>
          <a:ln/>
        </p:spPr>
        <p:txBody>
          <a:bodyPr wrap="square" lIns="0" tIns="0" rIns="0" bIns="0" rtlCol="0" anchor="ctr"/>
          <a:lstStyle/>
          <a:p>
            <a:pPr algn="ctr" indent="0" marL="0">
              <a:buNone/>
            </a:pPr>
            <a:r>
              <a:rPr lang="en-US" sz="1800" b="1" dirty="0">
                <a:solidFill>
                  <a:srgbClr val="1E6F5C"/>
                </a:solidFill>
                <a:latin typeface="Calibri" pitchFamily="34" charset="0"/>
                <a:ea typeface="Calibri" pitchFamily="34" charset="-122"/>
                <a:cs typeface="Calibri" pitchFamily="34" charset="-120"/>
              </a:rPr>
              <a:t>Backend</a:t>
            </a:r>
            <a:endParaRPr lang="en-US" sz="1800" dirty="0"/>
          </a:p>
        </p:txBody>
      </p:sp>
      <p:sp>
        <p:nvSpPr>
          <p:cNvPr id="8" name="Text 6"/>
          <p:cNvSpPr/>
          <p:nvPr/>
        </p:nvSpPr>
        <p:spPr>
          <a:xfrm>
            <a:off x="5212080" y="1508760"/>
            <a:ext cx="3200400" cy="1097280"/>
          </a:xfrm>
          <a:prstGeom prst="rect">
            <a:avLst/>
          </a:prstGeom>
          <a:noFill/>
          <a:ln/>
        </p:spPr>
        <p:txBody>
          <a:bodyPr wrap="square" rtlCol="0" anchor="ctr"/>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NextAuth.js (JWT)</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Prisma ORM</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Server Actions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API Routes</a:t>
            </a:r>
            <a:endParaRPr lang="en-US" sz="1300" dirty="0"/>
          </a:p>
        </p:txBody>
      </p:sp>
      <p:sp>
        <p:nvSpPr>
          <p:cNvPr id="9" name="Shape 7"/>
          <p:cNvSpPr/>
          <p:nvPr/>
        </p:nvSpPr>
        <p:spPr>
          <a:xfrm>
            <a:off x="548640" y="2880360"/>
            <a:ext cx="3931920" cy="1691640"/>
          </a:xfrm>
          <a:prstGeom prst="roundRect">
            <a:avLst>
              <a:gd name="adj" fmla="val 6486"/>
            </a:avLst>
          </a:prstGeom>
          <a:solidFill>
            <a:srgbClr val="1B2A4A"/>
          </a:solidFill>
          <a:ln/>
        </p:spPr>
      </p:sp>
      <p:sp>
        <p:nvSpPr>
          <p:cNvPr id="10" name="Text 8"/>
          <p:cNvSpPr/>
          <p:nvPr/>
        </p:nvSpPr>
        <p:spPr>
          <a:xfrm>
            <a:off x="548640" y="2971800"/>
            <a:ext cx="3931920" cy="411480"/>
          </a:xfrm>
          <a:prstGeom prst="rect">
            <a:avLst/>
          </a:prstGeom>
          <a:noFill/>
          <a:ln/>
        </p:spPr>
        <p:txBody>
          <a:bodyPr wrap="square" lIns="0" tIns="0" rIns="0" bIns="0" rtlCol="0" anchor="ctr"/>
          <a:lstStyle/>
          <a:p>
            <a:pPr algn="ctr" indent="0" marL="0">
              <a:buNone/>
            </a:pPr>
            <a:r>
              <a:rPr lang="en-US" sz="1800" b="1" dirty="0">
                <a:solidFill>
                  <a:srgbClr val="C0392B"/>
                </a:solidFill>
                <a:latin typeface="Calibri" pitchFamily="34" charset="0"/>
                <a:ea typeface="Calibri" pitchFamily="34" charset="-122"/>
                <a:cs typeface="Calibri" pitchFamily="34" charset="-120"/>
              </a:rPr>
              <a:t>AI &amp; Hardware</a:t>
            </a:r>
            <a:endParaRPr lang="en-US" sz="1800" dirty="0"/>
          </a:p>
        </p:txBody>
      </p:sp>
      <p:sp>
        <p:nvSpPr>
          <p:cNvPr id="11" name="Text 9"/>
          <p:cNvSpPr/>
          <p:nvPr/>
        </p:nvSpPr>
        <p:spPr>
          <a:xfrm>
            <a:off x="914400" y="3383280"/>
            <a:ext cx="3200400" cy="1097280"/>
          </a:xfrm>
          <a:prstGeom prst="rect">
            <a:avLst/>
          </a:prstGeom>
          <a:noFill/>
          <a:ln/>
        </p:spPr>
        <p:txBody>
          <a:bodyPr wrap="square" rtlCol="0" anchor="ctr"/>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Flask (Python)</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MediaPipe</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OpenCV</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ESP32 / ESP8266</a:t>
            </a:r>
            <a:endParaRPr lang="en-US" sz="1300" dirty="0"/>
          </a:p>
        </p:txBody>
      </p:sp>
      <p:sp>
        <p:nvSpPr>
          <p:cNvPr id="12" name="Shape 10"/>
          <p:cNvSpPr/>
          <p:nvPr/>
        </p:nvSpPr>
        <p:spPr>
          <a:xfrm>
            <a:off x="4846320" y="2880360"/>
            <a:ext cx="3931920" cy="1691640"/>
          </a:xfrm>
          <a:prstGeom prst="roundRect">
            <a:avLst>
              <a:gd name="adj" fmla="val 6486"/>
            </a:avLst>
          </a:prstGeom>
          <a:solidFill>
            <a:srgbClr val="1B2A4A"/>
          </a:solidFill>
          <a:ln/>
        </p:spPr>
      </p:sp>
      <p:sp>
        <p:nvSpPr>
          <p:cNvPr id="13" name="Text 11"/>
          <p:cNvSpPr/>
          <p:nvPr/>
        </p:nvSpPr>
        <p:spPr>
          <a:xfrm>
            <a:off x="4846320" y="2971800"/>
            <a:ext cx="3931920" cy="411480"/>
          </a:xfrm>
          <a:prstGeom prst="rect">
            <a:avLst/>
          </a:prstGeom>
          <a:noFill/>
          <a:ln/>
        </p:spPr>
        <p:txBody>
          <a:bodyPr wrap="square" lIns="0" tIns="0" rIns="0" bIns="0" rtlCol="0" anchor="ctr"/>
          <a:lstStyle/>
          <a:p>
            <a:pPr algn="ctr" indent="0" marL="0">
              <a:buNone/>
            </a:pPr>
            <a:r>
              <a:rPr lang="en-US" sz="1800" b="1" dirty="0">
                <a:solidFill>
                  <a:srgbClr val="8E44AD"/>
                </a:solidFill>
                <a:latin typeface="Calibri" pitchFamily="34" charset="0"/>
                <a:ea typeface="Calibri" pitchFamily="34" charset="-122"/>
                <a:cs typeface="Calibri" pitchFamily="34" charset="-120"/>
              </a:rPr>
              <a:t>Database &amp; Tools</a:t>
            </a:r>
            <a:endParaRPr lang="en-US" sz="1800" dirty="0"/>
          </a:p>
        </p:txBody>
      </p:sp>
      <p:sp>
        <p:nvSpPr>
          <p:cNvPr id="14" name="Text 12"/>
          <p:cNvSpPr/>
          <p:nvPr/>
        </p:nvSpPr>
        <p:spPr>
          <a:xfrm>
            <a:off x="5212080" y="3383280"/>
            <a:ext cx="3200400" cy="1097280"/>
          </a:xfrm>
          <a:prstGeom prst="rect">
            <a:avLst/>
          </a:prstGeom>
          <a:noFill/>
          <a:ln/>
        </p:spPr>
        <p:txBody>
          <a:bodyPr wrap="square" rtlCol="0" anchor="ctr"/>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PostgreSQL</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Neon (Cloud)</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Git / GitHub</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VS Code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1B2A4A"/>
                </a:solidFill>
                <a:latin typeface="Calibri" pitchFamily="34" charset="0"/>
                <a:ea typeface="Calibri" pitchFamily="34" charset="-122"/>
                <a:cs typeface="Calibri" pitchFamily="34" charset="-120"/>
              </a:rPr>
              <a:t>قاعدة البيانات — 20+ Tables</a:t>
            </a:r>
            <a:endParaRPr lang="en-US" sz="3200" dirty="0"/>
          </a:p>
        </p:txBody>
      </p:sp>
      <p:sp>
        <p:nvSpPr>
          <p:cNvPr id="3" name="Shape 1"/>
          <p:cNvSpPr/>
          <p:nvPr/>
        </p:nvSpPr>
        <p:spPr>
          <a:xfrm>
            <a:off x="365760" y="1005840"/>
            <a:ext cx="2743200" cy="1737360"/>
          </a:xfrm>
          <a:prstGeom prst="roundRect">
            <a:avLst>
              <a:gd name="adj" fmla="val 5263"/>
            </a:avLst>
          </a:prstGeom>
          <a:solidFill>
            <a:srgbClr val="FFFFFF"/>
          </a:solidFill>
          <a:ln/>
          <a:effectLst>
            <a:outerShdw sx="100000" sy="100000" kx="0" ky="0" algn="bl" rotWithShape="0" blurRad="101600" dist="38100" dir="2700000">
              <a:srgbClr val="000000">
                <a:alpha val="18000"/>
              </a:srgbClr>
            </a:outerShdw>
          </a:effectLst>
        </p:spPr>
      </p:sp>
      <p:sp>
        <p:nvSpPr>
          <p:cNvPr id="4" name="Text 2"/>
          <p:cNvSpPr/>
          <p:nvPr/>
        </p:nvSpPr>
        <p:spPr>
          <a:xfrm>
            <a:off x="365760" y="1097280"/>
            <a:ext cx="2743200" cy="365760"/>
          </a:xfrm>
          <a:prstGeom prst="rect">
            <a:avLst/>
          </a:prstGeom>
          <a:noFill/>
          <a:ln/>
        </p:spPr>
        <p:txBody>
          <a:bodyPr wrap="square" lIns="0" tIns="0" rIns="0" bIns="0" rtlCol="0" anchor="ctr"/>
          <a:lstStyle/>
          <a:p>
            <a:pPr algn="ctr" indent="0" marL="0">
              <a:buNone/>
            </a:pPr>
            <a:r>
              <a:rPr lang="en-US" sz="1500" b="1" dirty="0">
                <a:solidFill>
                  <a:srgbClr val="2E86C1"/>
                </a:solidFill>
                <a:latin typeface="Calibri" pitchFamily="34" charset="0"/>
                <a:ea typeface="Calibri" pitchFamily="34" charset="-122"/>
                <a:cs typeface="Calibri" pitchFamily="34" charset="-120"/>
              </a:rPr>
              <a:t>Core</a:t>
            </a:r>
            <a:endParaRPr lang="en-US" sz="1500" dirty="0"/>
          </a:p>
        </p:txBody>
      </p:sp>
      <p:sp>
        <p:nvSpPr>
          <p:cNvPr id="5" name="Text 3"/>
          <p:cNvSpPr/>
          <p:nvPr/>
        </p:nvSpPr>
        <p:spPr>
          <a:xfrm>
            <a:off x="548640" y="1463040"/>
            <a:ext cx="2377440" cy="1188720"/>
          </a:xfrm>
          <a:prstGeom prst="rect">
            <a:avLst/>
          </a:prstGeom>
          <a:noFill/>
          <a:ln/>
        </p:spPr>
        <p:txBody>
          <a:bodyPr wrap="square" rtlCol="0" anchor="ctr"/>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User (5 roles)</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Course</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Enrollment</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TeacherCourse</a:t>
            </a:r>
            <a:endParaRPr lang="en-US" sz="1000" dirty="0"/>
          </a:p>
        </p:txBody>
      </p:sp>
      <p:sp>
        <p:nvSpPr>
          <p:cNvPr id="6" name="Shape 4"/>
          <p:cNvSpPr/>
          <p:nvPr/>
        </p:nvSpPr>
        <p:spPr>
          <a:xfrm>
            <a:off x="3291840" y="1005840"/>
            <a:ext cx="2743200" cy="1737360"/>
          </a:xfrm>
          <a:prstGeom prst="roundRect">
            <a:avLst>
              <a:gd name="adj" fmla="val 5263"/>
            </a:avLst>
          </a:prstGeom>
          <a:solidFill>
            <a:srgbClr val="FFFFFF"/>
          </a:solidFill>
          <a:ln/>
          <a:effectLst>
            <a:outerShdw sx="100000" sy="100000" kx="0" ky="0" algn="bl" rotWithShape="0" blurRad="101600" dist="38100" dir="2700000">
              <a:srgbClr val="000000">
                <a:alpha val="18000"/>
              </a:srgbClr>
            </a:outerShdw>
          </a:effectLst>
        </p:spPr>
      </p:sp>
      <p:sp>
        <p:nvSpPr>
          <p:cNvPr id="7" name="Text 5"/>
          <p:cNvSpPr/>
          <p:nvPr/>
        </p:nvSpPr>
        <p:spPr>
          <a:xfrm>
            <a:off x="3291840" y="1097280"/>
            <a:ext cx="2743200" cy="365760"/>
          </a:xfrm>
          <a:prstGeom prst="rect">
            <a:avLst/>
          </a:prstGeom>
          <a:noFill/>
          <a:ln/>
        </p:spPr>
        <p:txBody>
          <a:bodyPr wrap="square" lIns="0" tIns="0" rIns="0" bIns="0" rtlCol="0" anchor="ctr"/>
          <a:lstStyle/>
          <a:p>
            <a:pPr algn="ctr" indent="0" marL="0">
              <a:buNone/>
            </a:pPr>
            <a:r>
              <a:rPr lang="en-US" sz="1500" b="1" dirty="0">
                <a:solidFill>
                  <a:srgbClr val="1E6F5C"/>
                </a:solidFill>
                <a:latin typeface="Calibri" pitchFamily="34" charset="0"/>
                <a:ea typeface="Calibri" pitchFamily="34" charset="-122"/>
                <a:cs typeface="Calibri" pitchFamily="34" charset="-120"/>
              </a:rPr>
              <a:t>Attendance</a:t>
            </a:r>
            <a:endParaRPr lang="en-US" sz="1500" dirty="0"/>
          </a:p>
        </p:txBody>
      </p:sp>
      <p:sp>
        <p:nvSpPr>
          <p:cNvPr id="8" name="Text 6"/>
          <p:cNvSpPr/>
          <p:nvPr/>
        </p:nvSpPr>
        <p:spPr>
          <a:xfrm>
            <a:off x="3474720" y="1463040"/>
            <a:ext cx="2377440" cy="1188720"/>
          </a:xfrm>
          <a:prstGeom prst="rect">
            <a:avLst/>
          </a:prstGeom>
          <a:noFill/>
          <a:ln/>
        </p:spPr>
        <p:txBody>
          <a:bodyPr wrap="square" rtlCol="0" anchor="ctr"/>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AttendanceSession</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Attendance (unique student+session)</a:t>
            </a:r>
            <a:endParaRPr lang="en-US" sz="1000" dirty="0"/>
          </a:p>
        </p:txBody>
      </p:sp>
      <p:sp>
        <p:nvSpPr>
          <p:cNvPr id="9" name="Shape 7"/>
          <p:cNvSpPr/>
          <p:nvPr/>
        </p:nvSpPr>
        <p:spPr>
          <a:xfrm>
            <a:off x="6217920" y="1005840"/>
            <a:ext cx="2743200" cy="1737360"/>
          </a:xfrm>
          <a:prstGeom prst="roundRect">
            <a:avLst>
              <a:gd name="adj" fmla="val 5263"/>
            </a:avLst>
          </a:prstGeom>
          <a:solidFill>
            <a:srgbClr val="FFFFFF"/>
          </a:solidFill>
          <a:ln/>
          <a:effectLst>
            <a:outerShdw sx="100000" sy="100000" kx="0" ky="0" algn="bl" rotWithShape="0" blurRad="101600" dist="38100" dir="2700000">
              <a:srgbClr val="000000">
                <a:alpha val="18000"/>
              </a:srgbClr>
            </a:outerShdw>
          </a:effectLst>
        </p:spPr>
      </p:sp>
      <p:sp>
        <p:nvSpPr>
          <p:cNvPr id="10" name="Text 8"/>
          <p:cNvSpPr/>
          <p:nvPr/>
        </p:nvSpPr>
        <p:spPr>
          <a:xfrm>
            <a:off x="6217920" y="1097280"/>
            <a:ext cx="2743200" cy="365760"/>
          </a:xfrm>
          <a:prstGeom prst="rect">
            <a:avLst/>
          </a:prstGeom>
          <a:noFill/>
          <a:ln/>
        </p:spPr>
        <p:txBody>
          <a:bodyPr wrap="square" lIns="0" tIns="0" rIns="0" bIns="0" rtlCol="0" anchor="ctr"/>
          <a:lstStyle/>
          <a:p>
            <a:pPr algn="ctr" indent="0" marL="0">
              <a:buNone/>
            </a:pPr>
            <a:r>
              <a:rPr lang="en-US" sz="1500" b="1" dirty="0">
                <a:solidFill>
                  <a:srgbClr val="C0392B"/>
                </a:solidFill>
                <a:latin typeface="Calibri" pitchFamily="34" charset="0"/>
                <a:ea typeface="Calibri" pitchFamily="34" charset="-122"/>
                <a:cs typeface="Calibri" pitchFamily="34" charset="-120"/>
              </a:rPr>
              <a:t>Exams &amp; OCR</a:t>
            </a:r>
            <a:endParaRPr lang="en-US" sz="1500" dirty="0"/>
          </a:p>
        </p:txBody>
      </p:sp>
      <p:sp>
        <p:nvSpPr>
          <p:cNvPr id="11" name="Text 9"/>
          <p:cNvSpPr/>
          <p:nvPr/>
        </p:nvSpPr>
        <p:spPr>
          <a:xfrm>
            <a:off x="6400800" y="1463040"/>
            <a:ext cx="2377440" cy="1188720"/>
          </a:xfrm>
          <a:prstGeom prst="rect">
            <a:avLst/>
          </a:prstGeom>
          <a:noFill/>
          <a:ln/>
        </p:spPr>
        <p:txBody>
          <a:bodyPr wrap="square" rtlCol="0" anchor="ctr"/>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Exam</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Question</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QuestionOption</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StudentExamPaper</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StudentAnswer</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ExamResult</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OCRConfig</a:t>
            </a:r>
            <a:endParaRPr lang="en-US" sz="1000" dirty="0"/>
          </a:p>
        </p:txBody>
      </p:sp>
      <p:sp>
        <p:nvSpPr>
          <p:cNvPr id="12" name="Shape 10"/>
          <p:cNvSpPr/>
          <p:nvPr/>
        </p:nvSpPr>
        <p:spPr>
          <a:xfrm>
            <a:off x="365760" y="2926080"/>
            <a:ext cx="2743200" cy="1737360"/>
          </a:xfrm>
          <a:prstGeom prst="roundRect">
            <a:avLst>
              <a:gd name="adj" fmla="val 5263"/>
            </a:avLst>
          </a:prstGeom>
          <a:solidFill>
            <a:srgbClr val="FFFFFF"/>
          </a:solidFill>
          <a:ln/>
          <a:effectLst>
            <a:outerShdw sx="100000" sy="100000" kx="0" ky="0" algn="bl" rotWithShape="0" blurRad="101600" dist="38100" dir="2700000">
              <a:srgbClr val="000000">
                <a:alpha val="18000"/>
              </a:srgbClr>
            </a:outerShdw>
          </a:effectLst>
        </p:spPr>
      </p:sp>
      <p:sp>
        <p:nvSpPr>
          <p:cNvPr id="13" name="Text 11"/>
          <p:cNvSpPr/>
          <p:nvPr/>
        </p:nvSpPr>
        <p:spPr>
          <a:xfrm>
            <a:off x="365760" y="3017520"/>
            <a:ext cx="2743200" cy="365760"/>
          </a:xfrm>
          <a:prstGeom prst="rect">
            <a:avLst/>
          </a:prstGeom>
          <a:noFill/>
          <a:ln/>
        </p:spPr>
        <p:txBody>
          <a:bodyPr wrap="square" lIns="0" tIns="0" rIns="0" bIns="0" rtlCol="0" anchor="ctr"/>
          <a:lstStyle/>
          <a:p>
            <a:pPr algn="ctr" indent="0" marL="0">
              <a:buNone/>
            </a:pPr>
            <a:r>
              <a:rPr lang="en-US" sz="1500" b="1" dirty="0">
                <a:solidFill>
                  <a:srgbClr val="8E44AD"/>
                </a:solidFill>
                <a:latin typeface="Calibri" pitchFamily="34" charset="0"/>
                <a:ea typeface="Calibri" pitchFamily="34" charset="-122"/>
                <a:cs typeface="Calibri" pitchFamily="34" charset="-120"/>
              </a:rPr>
              <a:t>Activities</a:t>
            </a:r>
            <a:endParaRPr lang="en-US" sz="1500" dirty="0"/>
          </a:p>
        </p:txBody>
      </p:sp>
      <p:sp>
        <p:nvSpPr>
          <p:cNvPr id="14" name="Text 12"/>
          <p:cNvSpPr/>
          <p:nvPr/>
        </p:nvSpPr>
        <p:spPr>
          <a:xfrm>
            <a:off x="548640" y="3383280"/>
            <a:ext cx="2377440" cy="1188720"/>
          </a:xfrm>
          <a:prstGeom prst="rect">
            <a:avLst/>
          </a:prstGeom>
          <a:noFill/>
          <a:ln/>
        </p:spPr>
        <p:txBody>
          <a:bodyPr wrap="square" rtlCol="0" anchor="ctr"/>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StudentActivity</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ActivityContent</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ActivityAttachment</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ActivitySubmission</a:t>
            </a:r>
            <a:endParaRPr lang="en-US" sz="1000" dirty="0"/>
          </a:p>
        </p:txBody>
      </p:sp>
      <p:sp>
        <p:nvSpPr>
          <p:cNvPr id="15" name="Shape 13"/>
          <p:cNvSpPr/>
          <p:nvPr/>
        </p:nvSpPr>
        <p:spPr>
          <a:xfrm>
            <a:off x="3291840" y="2926080"/>
            <a:ext cx="2743200" cy="1737360"/>
          </a:xfrm>
          <a:prstGeom prst="roundRect">
            <a:avLst>
              <a:gd name="adj" fmla="val 5263"/>
            </a:avLst>
          </a:prstGeom>
          <a:solidFill>
            <a:srgbClr val="FFFFFF"/>
          </a:solidFill>
          <a:ln/>
          <a:effectLst>
            <a:outerShdw sx="100000" sy="100000" kx="0" ky="0" algn="bl" rotWithShape="0" blurRad="101600" dist="38100" dir="2700000">
              <a:srgbClr val="000000">
                <a:alpha val="18000"/>
              </a:srgbClr>
            </a:outerShdw>
          </a:effectLst>
        </p:spPr>
      </p:sp>
      <p:sp>
        <p:nvSpPr>
          <p:cNvPr id="16" name="Text 14"/>
          <p:cNvSpPr/>
          <p:nvPr/>
        </p:nvSpPr>
        <p:spPr>
          <a:xfrm>
            <a:off x="3291840" y="3017520"/>
            <a:ext cx="2743200" cy="365760"/>
          </a:xfrm>
          <a:prstGeom prst="rect">
            <a:avLst/>
          </a:prstGeom>
          <a:noFill/>
          <a:ln/>
        </p:spPr>
        <p:txBody>
          <a:bodyPr wrap="square" lIns="0" tIns="0" rIns="0" bIns="0" rtlCol="0" anchor="ctr"/>
          <a:lstStyle/>
          <a:p>
            <a:pPr algn="ctr" indent="0" marL="0">
              <a:buNone/>
            </a:pPr>
            <a:r>
              <a:rPr lang="en-US" sz="1500" b="1" dirty="0">
                <a:solidFill>
                  <a:srgbClr val="F5A623"/>
                </a:solidFill>
                <a:latin typeface="Calibri" pitchFamily="34" charset="0"/>
                <a:ea typeface="Calibri" pitchFamily="34" charset="-122"/>
                <a:cs typeface="Calibri" pitchFamily="34" charset="-120"/>
              </a:rPr>
              <a:t>Advisor</a:t>
            </a:r>
            <a:endParaRPr lang="en-US" sz="1500" dirty="0"/>
          </a:p>
        </p:txBody>
      </p:sp>
      <p:sp>
        <p:nvSpPr>
          <p:cNvPr id="17" name="Text 15"/>
          <p:cNvSpPr/>
          <p:nvPr/>
        </p:nvSpPr>
        <p:spPr>
          <a:xfrm>
            <a:off x="3474720" y="3383280"/>
            <a:ext cx="2377440" cy="1188720"/>
          </a:xfrm>
          <a:prstGeom prst="rect">
            <a:avLst/>
          </a:prstGeom>
          <a:noFill/>
          <a:ln/>
        </p:spPr>
        <p:txBody>
          <a:bodyPr wrap="square" rtlCol="0" anchor="ctr"/>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StudentInsight</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AdvisorRecommendation</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AdvisorMeeting</a:t>
            </a:r>
            <a:endParaRPr lang="en-US" sz="1000" dirty="0"/>
          </a:p>
        </p:txBody>
      </p:sp>
      <p:sp>
        <p:nvSpPr>
          <p:cNvPr id="18" name="Shape 16"/>
          <p:cNvSpPr/>
          <p:nvPr/>
        </p:nvSpPr>
        <p:spPr>
          <a:xfrm>
            <a:off x="6217920" y="2926080"/>
            <a:ext cx="2743200" cy="1737360"/>
          </a:xfrm>
          <a:prstGeom prst="roundRect">
            <a:avLst>
              <a:gd name="adj" fmla="val 5263"/>
            </a:avLst>
          </a:prstGeom>
          <a:solidFill>
            <a:srgbClr val="FFFFFF"/>
          </a:solidFill>
          <a:ln/>
          <a:effectLst>
            <a:outerShdw sx="100000" sy="100000" kx="0" ky="0" algn="bl" rotWithShape="0" blurRad="101600" dist="38100" dir="2700000">
              <a:srgbClr val="000000">
                <a:alpha val="18000"/>
              </a:srgbClr>
            </a:outerShdw>
          </a:effectLst>
        </p:spPr>
      </p:sp>
      <p:sp>
        <p:nvSpPr>
          <p:cNvPr id="19" name="Text 17"/>
          <p:cNvSpPr/>
          <p:nvPr/>
        </p:nvSpPr>
        <p:spPr>
          <a:xfrm>
            <a:off x="6217920" y="3017520"/>
            <a:ext cx="2743200" cy="365760"/>
          </a:xfrm>
          <a:prstGeom prst="rect">
            <a:avLst/>
          </a:prstGeom>
          <a:noFill/>
          <a:ln/>
        </p:spPr>
        <p:txBody>
          <a:bodyPr wrap="square" lIns="0" tIns="0" rIns="0" bIns="0" rtlCol="0" anchor="ctr"/>
          <a:lstStyle/>
          <a:p>
            <a:pPr algn="ctr" indent="0" marL="0">
              <a:buNone/>
            </a:pPr>
            <a:r>
              <a:rPr lang="en-US" sz="1500" b="1" dirty="0">
                <a:solidFill>
                  <a:srgbClr val="6B7B9A"/>
                </a:solidFill>
                <a:latin typeface="Calibri" pitchFamily="34" charset="0"/>
                <a:ea typeface="Calibri" pitchFamily="34" charset="-122"/>
                <a:cs typeface="Calibri" pitchFamily="34" charset="-120"/>
              </a:rPr>
              <a:t>System</a:t>
            </a:r>
            <a:endParaRPr lang="en-US" sz="1500" dirty="0"/>
          </a:p>
        </p:txBody>
      </p:sp>
      <p:sp>
        <p:nvSpPr>
          <p:cNvPr id="20" name="Text 18"/>
          <p:cNvSpPr/>
          <p:nvPr/>
        </p:nvSpPr>
        <p:spPr>
          <a:xfrm>
            <a:off x="6400800" y="3383280"/>
            <a:ext cx="2377440" cy="1188720"/>
          </a:xfrm>
          <a:prstGeom prst="rect">
            <a:avLst/>
          </a:prstGeom>
          <a:noFill/>
          <a:ln/>
        </p:spPr>
        <p:txBody>
          <a:bodyPr wrap="square" rtlCol="0" anchor="ctr"/>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Assignment</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AssignmentSubmission</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SystemNotification</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AdminLog</a:t>
            </a:r>
            <a:endParaRPr lang="en-US" sz="1000" dirty="0"/>
          </a:p>
        </p:txBody>
      </p:sp>
      <p:sp>
        <p:nvSpPr>
          <p:cNvPr id="21" name="Text 19"/>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13 / 20</a:t>
            </a:r>
            <a:endParaRPr lang="en-US" sz="900" dirty="0"/>
          </a:p>
        </p:txBody>
      </p:sp>
      <p:pic>
        <p:nvPicPr>
          <p:cNvPr id="22"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1B2A4A"/>
                </a:solidFill>
                <a:latin typeface="Calibri" pitchFamily="34" charset="0"/>
                <a:ea typeface="Calibri" pitchFamily="34" charset="-122"/>
                <a:cs typeface="Calibri" pitchFamily="34" charset="-120"/>
              </a:rPr>
              <a:t>بصيرة المخاطر — Student Insights</a:t>
            </a:r>
            <a:endParaRPr lang="en-US" sz="3200" dirty="0"/>
          </a:p>
        </p:txBody>
      </p:sp>
      <p:sp>
        <p:nvSpPr>
          <p:cNvPr id="3" name="Text 1"/>
          <p:cNvSpPr/>
          <p:nvPr/>
        </p:nvSpPr>
        <p:spPr>
          <a:xfrm>
            <a:off x="548640" y="960120"/>
            <a:ext cx="4114800" cy="365760"/>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مدخلات التحليل</a:t>
            </a:r>
            <a:endParaRPr lang="en-US" sz="1800" dirty="0"/>
          </a:p>
        </p:txBody>
      </p:sp>
      <p:sp>
        <p:nvSpPr>
          <p:cNvPr id="4" name="Shape 2"/>
          <p:cNvSpPr/>
          <p:nvPr/>
        </p:nvSpPr>
        <p:spPr>
          <a:xfrm>
            <a:off x="640080" y="1463040"/>
            <a:ext cx="411480" cy="411480"/>
          </a:xfrm>
          <a:prstGeom prst="ellipse">
            <a:avLst/>
          </a:prstGeom>
          <a:solidFill>
            <a:srgbClr val="2E86C1"/>
          </a:solidFill>
          <a:ln/>
        </p:spPr>
      </p:sp>
      <p:sp>
        <p:nvSpPr>
          <p:cNvPr id="5" name="Text 3"/>
          <p:cNvSpPr/>
          <p:nvPr/>
        </p:nvSpPr>
        <p:spPr>
          <a:xfrm>
            <a:off x="640080" y="146304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6" name="Text 4"/>
          <p:cNvSpPr/>
          <p:nvPr/>
        </p:nvSpPr>
        <p:spPr>
          <a:xfrm>
            <a:off x="1188720" y="1417320"/>
            <a:ext cx="3200400" cy="5029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Attendance Rate</a:t>
            </a:r>
            <a:endParaRPr lang="en-US" sz="1300" dirty="0"/>
          </a:p>
          <a:p>
            <a:pPr indent="0" marL="0">
              <a:buNone/>
            </a:pPr>
            <a:r>
              <a:rPr lang="en-US" sz="1100" dirty="0">
                <a:solidFill>
                  <a:srgbClr val="6B7B9A"/>
                </a:solidFill>
                <a:latin typeface="Calibri" pitchFamily="34" charset="0"/>
                <a:ea typeface="Calibri" pitchFamily="34" charset="-122"/>
                <a:cs typeface="Calibri" pitchFamily="34" charset="-120"/>
              </a:rPr>
              <a:t>نسبة الحضور</a:t>
            </a:r>
            <a:endParaRPr lang="en-US" sz="1300" dirty="0"/>
          </a:p>
        </p:txBody>
      </p:sp>
      <p:sp>
        <p:nvSpPr>
          <p:cNvPr id="7" name="Shape 5"/>
          <p:cNvSpPr/>
          <p:nvPr/>
        </p:nvSpPr>
        <p:spPr>
          <a:xfrm>
            <a:off x="640080" y="2103120"/>
            <a:ext cx="411480" cy="411480"/>
          </a:xfrm>
          <a:prstGeom prst="ellipse">
            <a:avLst/>
          </a:prstGeom>
          <a:solidFill>
            <a:srgbClr val="2E86C1"/>
          </a:solidFill>
          <a:ln/>
        </p:spPr>
      </p:sp>
      <p:sp>
        <p:nvSpPr>
          <p:cNvPr id="8" name="Text 6"/>
          <p:cNvSpPr/>
          <p:nvPr/>
        </p:nvSpPr>
        <p:spPr>
          <a:xfrm>
            <a:off x="640080" y="210312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9" name="Text 7"/>
          <p:cNvSpPr/>
          <p:nvPr/>
        </p:nvSpPr>
        <p:spPr>
          <a:xfrm>
            <a:off x="1188720" y="2057400"/>
            <a:ext cx="3200400" cy="5029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Average Score</a:t>
            </a:r>
            <a:endParaRPr lang="en-US" sz="1300" dirty="0"/>
          </a:p>
          <a:p>
            <a:pPr indent="0" marL="0">
              <a:buNone/>
            </a:pPr>
            <a:r>
              <a:rPr lang="en-US" sz="1100" dirty="0">
                <a:solidFill>
                  <a:srgbClr val="6B7B9A"/>
                </a:solidFill>
                <a:latin typeface="Calibri" pitchFamily="34" charset="0"/>
                <a:ea typeface="Calibri" pitchFamily="34" charset="-122"/>
                <a:cs typeface="Calibri" pitchFamily="34" charset="-120"/>
              </a:rPr>
              <a:t>متوسط الدرجات</a:t>
            </a:r>
            <a:endParaRPr lang="en-US" sz="1300" dirty="0"/>
          </a:p>
        </p:txBody>
      </p:sp>
      <p:sp>
        <p:nvSpPr>
          <p:cNvPr id="10" name="Shape 8"/>
          <p:cNvSpPr/>
          <p:nvPr/>
        </p:nvSpPr>
        <p:spPr>
          <a:xfrm>
            <a:off x="640080" y="2743200"/>
            <a:ext cx="411480" cy="411480"/>
          </a:xfrm>
          <a:prstGeom prst="ellipse">
            <a:avLst/>
          </a:prstGeom>
          <a:solidFill>
            <a:srgbClr val="2E86C1"/>
          </a:solidFill>
          <a:ln/>
        </p:spPr>
      </p:sp>
      <p:sp>
        <p:nvSpPr>
          <p:cNvPr id="11" name="Text 9"/>
          <p:cNvSpPr/>
          <p:nvPr/>
        </p:nvSpPr>
        <p:spPr>
          <a:xfrm>
            <a:off x="640080" y="274320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t>
            </a:r>
            <a:endParaRPr lang="en-US" sz="1400" dirty="0"/>
          </a:p>
        </p:txBody>
      </p:sp>
      <p:sp>
        <p:nvSpPr>
          <p:cNvPr id="12" name="Text 10"/>
          <p:cNvSpPr/>
          <p:nvPr/>
        </p:nvSpPr>
        <p:spPr>
          <a:xfrm>
            <a:off x="1188720" y="2697480"/>
            <a:ext cx="3200400" cy="5029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Assignment Rate</a:t>
            </a:r>
            <a:endParaRPr lang="en-US" sz="1300" dirty="0"/>
          </a:p>
          <a:p>
            <a:pPr indent="0" marL="0">
              <a:buNone/>
            </a:pPr>
            <a:r>
              <a:rPr lang="en-US" sz="1100" dirty="0">
                <a:solidFill>
                  <a:srgbClr val="6B7B9A"/>
                </a:solidFill>
                <a:latin typeface="Calibri" pitchFamily="34" charset="0"/>
                <a:ea typeface="Calibri" pitchFamily="34" charset="-122"/>
                <a:cs typeface="Calibri" pitchFamily="34" charset="-120"/>
              </a:rPr>
              <a:t>معدل تسليم الواجبات</a:t>
            </a:r>
            <a:endParaRPr lang="en-US" sz="1300" dirty="0"/>
          </a:p>
        </p:txBody>
      </p:sp>
      <p:sp>
        <p:nvSpPr>
          <p:cNvPr id="13" name="Shape 11"/>
          <p:cNvSpPr/>
          <p:nvPr/>
        </p:nvSpPr>
        <p:spPr>
          <a:xfrm>
            <a:off x="640080" y="3383280"/>
            <a:ext cx="411480" cy="411480"/>
          </a:xfrm>
          <a:prstGeom prst="ellipse">
            <a:avLst/>
          </a:prstGeom>
          <a:solidFill>
            <a:srgbClr val="2E86C1"/>
          </a:solidFill>
          <a:ln/>
        </p:spPr>
      </p:sp>
      <p:sp>
        <p:nvSpPr>
          <p:cNvPr id="14" name="Text 12"/>
          <p:cNvSpPr/>
          <p:nvPr/>
        </p:nvSpPr>
        <p:spPr>
          <a:xfrm>
            <a:off x="640080" y="338328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a:t>
            </a:r>
            <a:endParaRPr lang="en-US" sz="1400" dirty="0"/>
          </a:p>
        </p:txBody>
      </p:sp>
      <p:sp>
        <p:nvSpPr>
          <p:cNvPr id="15" name="Text 13"/>
          <p:cNvSpPr/>
          <p:nvPr/>
        </p:nvSpPr>
        <p:spPr>
          <a:xfrm>
            <a:off x="1188720" y="3337560"/>
            <a:ext cx="3200400" cy="5029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Engagement Score</a:t>
            </a:r>
            <a:endParaRPr lang="en-US" sz="1300" dirty="0"/>
          </a:p>
          <a:p>
            <a:pPr indent="0" marL="0">
              <a:buNone/>
            </a:pPr>
            <a:r>
              <a:rPr lang="en-US" sz="1100" dirty="0">
                <a:solidFill>
                  <a:srgbClr val="6B7B9A"/>
                </a:solidFill>
                <a:latin typeface="Calibri" pitchFamily="34" charset="0"/>
                <a:ea typeface="Calibri" pitchFamily="34" charset="-122"/>
                <a:cs typeface="Calibri" pitchFamily="34" charset="-120"/>
              </a:rPr>
              <a:t>مستوى التفاعل</a:t>
            </a:r>
            <a:endParaRPr lang="en-US" sz="1300" dirty="0"/>
          </a:p>
        </p:txBody>
      </p:sp>
      <p:sp>
        <p:nvSpPr>
          <p:cNvPr id="16" name="Text 14"/>
          <p:cNvSpPr/>
          <p:nvPr/>
        </p:nvSpPr>
        <p:spPr>
          <a:xfrm>
            <a:off x="4846320" y="960120"/>
            <a:ext cx="3840480" cy="365760"/>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مخرجات التحليل</a:t>
            </a:r>
            <a:endParaRPr lang="en-US" sz="1800" dirty="0"/>
          </a:p>
        </p:txBody>
      </p:sp>
      <p:sp>
        <p:nvSpPr>
          <p:cNvPr id="17" name="Shape 15"/>
          <p:cNvSpPr/>
          <p:nvPr/>
        </p:nvSpPr>
        <p:spPr>
          <a:xfrm>
            <a:off x="4846320" y="1463040"/>
            <a:ext cx="3840480" cy="640080"/>
          </a:xfrm>
          <a:prstGeom prst="roundRect">
            <a:avLst>
              <a:gd name="adj" fmla="val 11429"/>
            </a:avLst>
          </a:prstGeom>
          <a:solidFill>
            <a:srgbClr val="FFFFFF"/>
          </a:solidFill>
          <a:ln/>
          <a:effectLst>
            <a:outerShdw sx="100000" sy="100000" kx="0" ky="0" algn="bl" rotWithShape="0" blurRad="101600" dist="38100" dir="2700000">
              <a:srgbClr val="000000">
                <a:alpha val="18000"/>
              </a:srgbClr>
            </a:outerShdw>
          </a:effectLst>
        </p:spPr>
      </p:sp>
      <p:sp>
        <p:nvSpPr>
          <p:cNvPr id="18" name="Shape 16"/>
          <p:cNvSpPr/>
          <p:nvPr/>
        </p:nvSpPr>
        <p:spPr>
          <a:xfrm>
            <a:off x="4983480" y="1600200"/>
            <a:ext cx="640080" cy="365760"/>
          </a:xfrm>
          <a:prstGeom prst="roundRect">
            <a:avLst>
              <a:gd name="adj" fmla="val 12500"/>
            </a:avLst>
          </a:prstGeom>
          <a:solidFill>
            <a:srgbClr val="1E6F5C"/>
          </a:solidFill>
          <a:ln/>
        </p:spPr>
      </p:sp>
      <p:sp>
        <p:nvSpPr>
          <p:cNvPr id="19" name="Text 17"/>
          <p:cNvSpPr/>
          <p:nvPr/>
        </p:nvSpPr>
        <p:spPr>
          <a:xfrm>
            <a:off x="4983480" y="1600200"/>
            <a:ext cx="64008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LOW</a:t>
            </a:r>
            <a:endParaRPr lang="en-US" sz="900" dirty="0"/>
          </a:p>
        </p:txBody>
      </p:sp>
      <p:sp>
        <p:nvSpPr>
          <p:cNvPr id="20" name="Text 18"/>
          <p:cNvSpPr/>
          <p:nvPr/>
        </p:nvSpPr>
        <p:spPr>
          <a:xfrm>
            <a:off x="5760720" y="1463040"/>
            <a:ext cx="2743200" cy="64008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منخفض</a:t>
            </a:r>
            <a:endParaRPr lang="en-US" sz="1400" dirty="0"/>
          </a:p>
          <a:p>
            <a:pPr indent="0" marL="0">
              <a:buNone/>
            </a:pPr>
            <a:r>
              <a:rPr lang="en-US" sz="1100" dirty="0">
                <a:solidFill>
                  <a:srgbClr val="6B7B9A"/>
                </a:solidFill>
                <a:latin typeface="Calibri" pitchFamily="34" charset="0"/>
                <a:ea typeface="Calibri" pitchFamily="34" charset="-122"/>
                <a:cs typeface="Calibri" pitchFamily="34" charset="-120"/>
              </a:rPr>
              <a:t>الطالب يسير بشكل طبيعي</a:t>
            </a:r>
            <a:endParaRPr lang="en-US" sz="1400" dirty="0"/>
          </a:p>
        </p:txBody>
      </p:sp>
      <p:sp>
        <p:nvSpPr>
          <p:cNvPr id="21" name="Shape 19"/>
          <p:cNvSpPr/>
          <p:nvPr/>
        </p:nvSpPr>
        <p:spPr>
          <a:xfrm>
            <a:off x="4846320" y="2240280"/>
            <a:ext cx="3840480" cy="640080"/>
          </a:xfrm>
          <a:prstGeom prst="roundRect">
            <a:avLst>
              <a:gd name="adj" fmla="val 11429"/>
            </a:avLst>
          </a:prstGeom>
          <a:solidFill>
            <a:srgbClr val="FFFFFF"/>
          </a:solidFill>
          <a:ln/>
          <a:effectLst>
            <a:outerShdw sx="100000" sy="100000" kx="0" ky="0" algn="bl" rotWithShape="0" blurRad="101600" dist="38100" dir="2700000">
              <a:srgbClr val="000000">
                <a:alpha val="18000"/>
              </a:srgbClr>
            </a:outerShdw>
          </a:effectLst>
        </p:spPr>
      </p:sp>
      <p:sp>
        <p:nvSpPr>
          <p:cNvPr id="22" name="Shape 20"/>
          <p:cNvSpPr/>
          <p:nvPr/>
        </p:nvSpPr>
        <p:spPr>
          <a:xfrm>
            <a:off x="4983480" y="2377440"/>
            <a:ext cx="640080" cy="365760"/>
          </a:xfrm>
          <a:prstGeom prst="roundRect">
            <a:avLst>
              <a:gd name="adj" fmla="val 12500"/>
            </a:avLst>
          </a:prstGeom>
          <a:solidFill>
            <a:srgbClr val="F5A623"/>
          </a:solidFill>
          <a:ln/>
        </p:spPr>
      </p:sp>
      <p:sp>
        <p:nvSpPr>
          <p:cNvPr id="23" name="Text 21"/>
          <p:cNvSpPr/>
          <p:nvPr/>
        </p:nvSpPr>
        <p:spPr>
          <a:xfrm>
            <a:off x="4983480" y="2377440"/>
            <a:ext cx="64008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24" name="Text 22"/>
          <p:cNvSpPr/>
          <p:nvPr/>
        </p:nvSpPr>
        <p:spPr>
          <a:xfrm>
            <a:off x="5760720" y="2240280"/>
            <a:ext cx="2743200" cy="64008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متوسط</a:t>
            </a:r>
            <a:endParaRPr lang="en-US" sz="1400" dirty="0"/>
          </a:p>
          <a:p>
            <a:pPr indent="0" marL="0">
              <a:buNone/>
            </a:pPr>
            <a:r>
              <a:rPr lang="en-US" sz="1100" dirty="0">
                <a:solidFill>
                  <a:srgbClr val="6B7B9A"/>
                </a:solidFill>
                <a:latin typeface="Calibri" pitchFamily="34" charset="0"/>
                <a:ea typeface="Calibri" pitchFamily="34" charset="-122"/>
                <a:cs typeface="Calibri" pitchFamily="34" charset="-120"/>
              </a:rPr>
              <a:t>يحتاج متابعة إضافية</a:t>
            </a:r>
            <a:endParaRPr lang="en-US" sz="1400" dirty="0"/>
          </a:p>
        </p:txBody>
      </p:sp>
      <p:sp>
        <p:nvSpPr>
          <p:cNvPr id="25" name="Shape 23"/>
          <p:cNvSpPr/>
          <p:nvPr/>
        </p:nvSpPr>
        <p:spPr>
          <a:xfrm>
            <a:off x="4846320" y="3017520"/>
            <a:ext cx="3840480" cy="640080"/>
          </a:xfrm>
          <a:prstGeom prst="roundRect">
            <a:avLst>
              <a:gd name="adj" fmla="val 11429"/>
            </a:avLst>
          </a:prstGeom>
          <a:solidFill>
            <a:srgbClr val="FFFFFF"/>
          </a:solidFill>
          <a:ln/>
          <a:effectLst>
            <a:outerShdw sx="100000" sy="100000" kx="0" ky="0" algn="bl" rotWithShape="0" blurRad="101600" dist="38100" dir="2700000">
              <a:srgbClr val="000000">
                <a:alpha val="18000"/>
              </a:srgbClr>
            </a:outerShdw>
          </a:effectLst>
        </p:spPr>
      </p:sp>
      <p:sp>
        <p:nvSpPr>
          <p:cNvPr id="26" name="Shape 24"/>
          <p:cNvSpPr/>
          <p:nvPr/>
        </p:nvSpPr>
        <p:spPr>
          <a:xfrm>
            <a:off x="4983480" y="3154680"/>
            <a:ext cx="640080" cy="365760"/>
          </a:xfrm>
          <a:prstGeom prst="roundRect">
            <a:avLst>
              <a:gd name="adj" fmla="val 12500"/>
            </a:avLst>
          </a:prstGeom>
          <a:solidFill>
            <a:srgbClr val="C0392B"/>
          </a:solidFill>
          <a:ln/>
        </p:spPr>
      </p:sp>
      <p:sp>
        <p:nvSpPr>
          <p:cNvPr id="27" name="Text 25"/>
          <p:cNvSpPr/>
          <p:nvPr/>
        </p:nvSpPr>
        <p:spPr>
          <a:xfrm>
            <a:off x="4983480" y="3154680"/>
            <a:ext cx="64008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8" name="Text 26"/>
          <p:cNvSpPr/>
          <p:nvPr/>
        </p:nvSpPr>
        <p:spPr>
          <a:xfrm>
            <a:off x="5760720" y="3017520"/>
            <a:ext cx="2743200" cy="64008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مرتفع</a:t>
            </a:r>
            <a:endParaRPr lang="en-US" sz="1400" dirty="0"/>
          </a:p>
          <a:p>
            <a:pPr indent="0" marL="0">
              <a:buNone/>
            </a:pPr>
            <a:r>
              <a:rPr lang="en-US" sz="1100" dirty="0">
                <a:solidFill>
                  <a:srgbClr val="6B7B9A"/>
                </a:solidFill>
                <a:latin typeface="Calibri" pitchFamily="34" charset="0"/>
                <a:ea typeface="Calibri" pitchFamily="34" charset="-122"/>
                <a:cs typeface="Calibri" pitchFamily="34" charset="-120"/>
              </a:rPr>
              <a:t>تدخل فوري مطلوب</a:t>
            </a:r>
            <a:endParaRPr lang="en-US" sz="1400" dirty="0"/>
          </a:p>
        </p:txBody>
      </p:sp>
      <p:sp>
        <p:nvSpPr>
          <p:cNvPr id="29" name="Shape 27"/>
          <p:cNvSpPr/>
          <p:nvPr/>
        </p:nvSpPr>
        <p:spPr>
          <a:xfrm>
            <a:off x="4846320" y="3840480"/>
            <a:ext cx="3840480" cy="548640"/>
          </a:xfrm>
          <a:prstGeom prst="roundRect">
            <a:avLst>
              <a:gd name="adj" fmla="val 13333"/>
            </a:avLst>
          </a:prstGeom>
          <a:solidFill>
            <a:srgbClr val="F0F4FF"/>
          </a:solidFill>
          <a:ln/>
        </p:spPr>
      </p:sp>
      <p:sp>
        <p:nvSpPr>
          <p:cNvPr id="30" name="Text 28"/>
          <p:cNvSpPr/>
          <p:nvPr/>
        </p:nvSpPr>
        <p:spPr>
          <a:xfrm>
            <a:off x="4937760" y="3840480"/>
            <a:ext cx="3657600" cy="548640"/>
          </a:xfrm>
          <a:prstGeom prst="rect">
            <a:avLst/>
          </a:prstGeom>
          <a:noFill/>
          <a:ln/>
        </p:spPr>
        <p:txBody>
          <a:bodyPr wrap="square" lIns="0" tIns="0" rIns="0" bIns="0" rtlCol="0" anchor="ctr"/>
          <a:lstStyle/>
          <a:p>
            <a:pPr algn="ctr" indent="0" marL="0">
              <a:buNone/>
            </a:pPr>
            <a:r>
              <a:rPr lang="en-US" sz="1000" dirty="0">
                <a:solidFill>
                  <a:srgbClr val="1B2A4A"/>
                </a:solidFill>
                <a:latin typeface="Calibri" pitchFamily="34" charset="0"/>
                <a:ea typeface="Calibri" pitchFamily="34" charset="-122"/>
                <a:cs typeface="Calibri" pitchFamily="34" charset="-120"/>
              </a:rPr>
              <a:t>+ Confidence Score | Predicted Outcome | Recommendations | Reasons</a:t>
            </a:r>
            <a:endParaRPr lang="en-US" sz="1000" dirty="0"/>
          </a:p>
        </p:txBody>
      </p:sp>
      <p:sp>
        <p:nvSpPr>
          <p:cNvPr id="31" name="Text 29"/>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14 / 20</a:t>
            </a:r>
            <a:endParaRPr lang="en-US" sz="900" dirty="0"/>
          </a:p>
        </p:txBody>
      </p:sp>
      <p:pic>
        <p:nvPicPr>
          <p:cNvPr id="32"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بصيرة التواصل — Advisor System</a:t>
            </a:r>
            <a:endParaRPr lang="en-US" sz="3200" dirty="0"/>
          </a:p>
        </p:txBody>
      </p:sp>
      <p:sp>
        <p:nvSpPr>
          <p:cNvPr id="3" name="Shape 1"/>
          <p:cNvSpPr/>
          <p:nvPr/>
        </p:nvSpPr>
        <p:spPr>
          <a:xfrm>
            <a:off x="914400" y="1097280"/>
            <a:ext cx="7315200" cy="731520"/>
          </a:xfrm>
          <a:prstGeom prst="roundRect">
            <a:avLst>
              <a:gd name="adj" fmla="val 12500"/>
            </a:avLst>
          </a:prstGeom>
          <a:solidFill>
            <a:srgbClr val="1B2A4A"/>
          </a:solidFill>
          <a:ln/>
        </p:spPr>
      </p:sp>
      <p:sp>
        <p:nvSpPr>
          <p:cNvPr id="4" name="Shape 2"/>
          <p:cNvSpPr/>
          <p:nvPr/>
        </p:nvSpPr>
        <p:spPr>
          <a:xfrm>
            <a:off x="1097280" y="1234440"/>
            <a:ext cx="457200" cy="457200"/>
          </a:xfrm>
          <a:prstGeom prst="ellipse">
            <a:avLst/>
          </a:prstGeom>
          <a:solidFill>
            <a:srgbClr val="2E86C1"/>
          </a:solidFill>
          <a:ln/>
        </p:spPr>
      </p:sp>
      <p:sp>
        <p:nvSpPr>
          <p:cNvPr id="5" name="Text 3"/>
          <p:cNvSpPr/>
          <p:nvPr/>
        </p:nvSpPr>
        <p:spPr>
          <a:xfrm>
            <a:off x="1097280" y="12344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737360" y="1097280"/>
            <a:ext cx="2286000" cy="731520"/>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التوصيات الأكاديمية</a:t>
            </a:r>
            <a:endParaRPr lang="en-US" sz="1600" dirty="0"/>
          </a:p>
        </p:txBody>
      </p:sp>
      <p:sp>
        <p:nvSpPr>
          <p:cNvPr id="7" name="Text 5"/>
          <p:cNvSpPr/>
          <p:nvPr/>
        </p:nvSpPr>
        <p:spPr>
          <a:xfrm>
            <a:off x="4023360" y="1097280"/>
            <a:ext cx="402336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المرشد يكتب توصيات للطالب — عادية أو تحذيرية (isWarning)</a:t>
            </a:r>
            <a:endParaRPr lang="en-US" sz="1200" dirty="0"/>
          </a:p>
        </p:txBody>
      </p:sp>
      <p:sp>
        <p:nvSpPr>
          <p:cNvPr id="8" name="Shape 6"/>
          <p:cNvSpPr/>
          <p:nvPr/>
        </p:nvSpPr>
        <p:spPr>
          <a:xfrm>
            <a:off x="914400" y="2011680"/>
            <a:ext cx="7315200" cy="731520"/>
          </a:xfrm>
          <a:prstGeom prst="roundRect">
            <a:avLst>
              <a:gd name="adj" fmla="val 12500"/>
            </a:avLst>
          </a:prstGeom>
          <a:solidFill>
            <a:srgbClr val="1B2A4A"/>
          </a:solidFill>
          <a:ln/>
        </p:spPr>
      </p:sp>
      <p:sp>
        <p:nvSpPr>
          <p:cNvPr id="9" name="Shape 7"/>
          <p:cNvSpPr/>
          <p:nvPr/>
        </p:nvSpPr>
        <p:spPr>
          <a:xfrm>
            <a:off x="1097280" y="2148840"/>
            <a:ext cx="457200" cy="457200"/>
          </a:xfrm>
          <a:prstGeom prst="ellipse">
            <a:avLst/>
          </a:prstGeom>
          <a:solidFill>
            <a:srgbClr val="1E6F5C"/>
          </a:solidFill>
          <a:ln/>
        </p:spPr>
      </p:sp>
      <p:sp>
        <p:nvSpPr>
          <p:cNvPr id="10" name="Text 8"/>
          <p:cNvSpPr/>
          <p:nvPr/>
        </p:nvSpPr>
        <p:spPr>
          <a:xfrm>
            <a:off x="1097280" y="21488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737360" y="2011680"/>
            <a:ext cx="2286000" cy="731520"/>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الاجتماعات</a:t>
            </a:r>
            <a:endParaRPr lang="en-US" sz="1600" dirty="0"/>
          </a:p>
        </p:txBody>
      </p:sp>
      <p:sp>
        <p:nvSpPr>
          <p:cNvPr id="12" name="Text 10"/>
          <p:cNvSpPr/>
          <p:nvPr/>
        </p:nvSpPr>
        <p:spPr>
          <a:xfrm>
            <a:off x="4023360" y="2011680"/>
            <a:ext cx="402336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جدولة اجتماعات مع الطلاب — Scheduled → Completed / Cancelled</a:t>
            </a:r>
            <a:endParaRPr lang="en-US" sz="1200" dirty="0"/>
          </a:p>
        </p:txBody>
      </p:sp>
      <p:sp>
        <p:nvSpPr>
          <p:cNvPr id="13" name="Shape 11"/>
          <p:cNvSpPr/>
          <p:nvPr/>
        </p:nvSpPr>
        <p:spPr>
          <a:xfrm>
            <a:off x="914400" y="2926080"/>
            <a:ext cx="7315200" cy="731520"/>
          </a:xfrm>
          <a:prstGeom prst="roundRect">
            <a:avLst>
              <a:gd name="adj" fmla="val 12500"/>
            </a:avLst>
          </a:prstGeom>
          <a:solidFill>
            <a:srgbClr val="1B2A4A"/>
          </a:solidFill>
          <a:ln/>
        </p:spPr>
      </p:sp>
      <p:sp>
        <p:nvSpPr>
          <p:cNvPr id="14" name="Shape 12"/>
          <p:cNvSpPr/>
          <p:nvPr/>
        </p:nvSpPr>
        <p:spPr>
          <a:xfrm>
            <a:off x="1097280" y="3063240"/>
            <a:ext cx="457200" cy="457200"/>
          </a:xfrm>
          <a:prstGeom prst="ellipse">
            <a:avLst/>
          </a:prstGeom>
          <a:solidFill>
            <a:srgbClr val="8E44AD"/>
          </a:solidFill>
          <a:ln/>
        </p:spPr>
      </p:sp>
      <p:sp>
        <p:nvSpPr>
          <p:cNvPr id="15" name="Text 13"/>
          <p:cNvSpPr/>
          <p:nvPr/>
        </p:nvSpPr>
        <p:spPr>
          <a:xfrm>
            <a:off x="1097280" y="30632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737360" y="2926080"/>
            <a:ext cx="2286000" cy="731520"/>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الإشعارات</a:t>
            </a:r>
            <a:endParaRPr lang="en-US" sz="1600" dirty="0"/>
          </a:p>
        </p:txBody>
      </p:sp>
      <p:sp>
        <p:nvSpPr>
          <p:cNvPr id="17" name="Text 15"/>
          <p:cNvSpPr/>
          <p:nvPr/>
        </p:nvSpPr>
        <p:spPr>
          <a:xfrm>
            <a:off x="4023360" y="2926080"/>
            <a:ext cx="402336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نظام إشعارات داخلي بين جميع الأدوار — sender → receiver</a:t>
            </a:r>
            <a:endParaRPr lang="en-US" sz="1200" dirty="0"/>
          </a:p>
        </p:txBody>
      </p:sp>
      <p:sp>
        <p:nvSpPr>
          <p:cNvPr id="18" name="Shape 16"/>
          <p:cNvSpPr/>
          <p:nvPr/>
        </p:nvSpPr>
        <p:spPr>
          <a:xfrm>
            <a:off x="914400" y="3840480"/>
            <a:ext cx="7315200" cy="731520"/>
          </a:xfrm>
          <a:prstGeom prst="roundRect">
            <a:avLst>
              <a:gd name="adj" fmla="val 12500"/>
            </a:avLst>
          </a:prstGeom>
          <a:solidFill>
            <a:srgbClr val="1B2A4A"/>
          </a:solidFill>
          <a:ln/>
        </p:spPr>
      </p:sp>
      <p:sp>
        <p:nvSpPr>
          <p:cNvPr id="19" name="Shape 17"/>
          <p:cNvSpPr/>
          <p:nvPr/>
        </p:nvSpPr>
        <p:spPr>
          <a:xfrm>
            <a:off x="1097280" y="3977640"/>
            <a:ext cx="457200" cy="457200"/>
          </a:xfrm>
          <a:prstGeom prst="ellipse">
            <a:avLst/>
          </a:prstGeom>
          <a:solidFill>
            <a:srgbClr val="F5A623"/>
          </a:solidFill>
          <a:ln/>
        </p:spPr>
      </p:sp>
      <p:sp>
        <p:nvSpPr>
          <p:cNvPr id="20" name="Text 18"/>
          <p:cNvSpPr/>
          <p:nvPr/>
        </p:nvSpPr>
        <p:spPr>
          <a:xfrm>
            <a:off x="1097280" y="39776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737360" y="3840480"/>
            <a:ext cx="2286000" cy="731520"/>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التقارير الشاملة</a:t>
            </a:r>
            <a:endParaRPr lang="en-US" sz="1600" dirty="0"/>
          </a:p>
        </p:txBody>
      </p:sp>
      <p:sp>
        <p:nvSpPr>
          <p:cNvPr id="22" name="Text 20"/>
          <p:cNvSpPr/>
          <p:nvPr/>
        </p:nvSpPr>
        <p:spPr>
          <a:xfrm>
            <a:off x="4023360" y="3840480"/>
            <a:ext cx="402336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تقارير أداء الطلاب + سجل العمليات + تحليلات الحضور</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1B2A4A"/>
                </a:solidFill>
                <a:latin typeface="Calibri" pitchFamily="34" charset="0"/>
                <a:ea typeface="Calibri" pitchFamily="34" charset="-122"/>
                <a:cs typeface="Calibri" pitchFamily="34" charset="-120"/>
              </a:rPr>
              <a:t>نظام الأنشطة الطلابية</a:t>
            </a:r>
            <a:endParaRPr lang="en-US" sz="3200" dirty="0"/>
          </a:p>
        </p:txBody>
      </p:sp>
      <p:sp>
        <p:nvSpPr>
          <p:cNvPr id="3" name="Shape 1"/>
          <p:cNvSpPr/>
          <p:nvPr/>
        </p:nvSpPr>
        <p:spPr>
          <a:xfrm>
            <a:off x="457200" y="1005840"/>
            <a:ext cx="1554480" cy="640080"/>
          </a:xfrm>
          <a:prstGeom prst="roundRect">
            <a:avLst>
              <a:gd name="adj" fmla="val 11429"/>
            </a:avLst>
          </a:prstGeom>
          <a:solidFill>
            <a:srgbClr val="2E86C1"/>
          </a:solidFill>
          <a:ln/>
        </p:spPr>
      </p:sp>
      <p:sp>
        <p:nvSpPr>
          <p:cNvPr id="4" name="Text 2"/>
          <p:cNvSpPr/>
          <p:nvPr/>
        </p:nvSpPr>
        <p:spPr>
          <a:xfrm>
            <a:off x="457200" y="1005840"/>
            <a:ext cx="155448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مهمة</a:t>
            </a:r>
            <a:endParaRPr lang="en-US" sz="1200" dirty="0"/>
          </a:p>
        </p:txBody>
      </p:sp>
      <p:sp>
        <p:nvSpPr>
          <p:cNvPr id="5" name="Shape 3"/>
          <p:cNvSpPr/>
          <p:nvPr/>
        </p:nvSpPr>
        <p:spPr>
          <a:xfrm>
            <a:off x="2194560" y="1005840"/>
            <a:ext cx="1554480" cy="640080"/>
          </a:xfrm>
          <a:prstGeom prst="roundRect">
            <a:avLst>
              <a:gd name="adj" fmla="val 11429"/>
            </a:avLst>
          </a:prstGeom>
          <a:solidFill>
            <a:srgbClr val="1E6F5C"/>
          </a:solidFill>
          <a:ln/>
        </p:spPr>
      </p:sp>
      <p:sp>
        <p:nvSpPr>
          <p:cNvPr id="6" name="Text 4"/>
          <p:cNvSpPr/>
          <p:nvPr/>
        </p:nvSpPr>
        <p:spPr>
          <a:xfrm>
            <a:off x="2194560" y="1005840"/>
            <a:ext cx="155448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QUIZ</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اختبار قصير</a:t>
            </a:r>
            <a:endParaRPr lang="en-US" sz="1200" dirty="0"/>
          </a:p>
        </p:txBody>
      </p:sp>
      <p:sp>
        <p:nvSpPr>
          <p:cNvPr id="7" name="Shape 5"/>
          <p:cNvSpPr/>
          <p:nvPr/>
        </p:nvSpPr>
        <p:spPr>
          <a:xfrm>
            <a:off x="3931920" y="1005840"/>
            <a:ext cx="1554480" cy="640080"/>
          </a:xfrm>
          <a:prstGeom prst="roundRect">
            <a:avLst>
              <a:gd name="adj" fmla="val 11429"/>
            </a:avLst>
          </a:prstGeom>
          <a:solidFill>
            <a:srgbClr val="8E44AD"/>
          </a:solidFill>
          <a:ln/>
        </p:spPr>
      </p:sp>
      <p:sp>
        <p:nvSpPr>
          <p:cNvPr id="8" name="Text 6"/>
          <p:cNvSpPr/>
          <p:nvPr/>
        </p:nvSpPr>
        <p:spPr>
          <a:xfrm>
            <a:off x="3931920" y="1005840"/>
            <a:ext cx="155448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PROJECT</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مشروع</a:t>
            </a:r>
            <a:endParaRPr lang="en-US" sz="1200" dirty="0"/>
          </a:p>
        </p:txBody>
      </p:sp>
      <p:sp>
        <p:nvSpPr>
          <p:cNvPr id="9" name="Shape 7"/>
          <p:cNvSpPr/>
          <p:nvPr/>
        </p:nvSpPr>
        <p:spPr>
          <a:xfrm>
            <a:off x="5669280" y="1005840"/>
            <a:ext cx="1554480" cy="640080"/>
          </a:xfrm>
          <a:prstGeom prst="roundRect">
            <a:avLst>
              <a:gd name="adj" fmla="val 11429"/>
            </a:avLst>
          </a:prstGeom>
          <a:solidFill>
            <a:srgbClr val="C0392B"/>
          </a:solidFill>
          <a:ln/>
        </p:spPr>
      </p:sp>
      <p:sp>
        <p:nvSpPr>
          <p:cNvPr id="10" name="Text 8"/>
          <p:cNvSpPr/>
          <p:nvPr/>
        </p:nvSpPr>
        <p:spPr>
          <a:xfrm>
            <a:off x="5669280" y="1005840"/>
            <a:ext cx="155448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EXAM</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امتحان</a:t>
            </a:r>
            <a:endParaRPr lang="en-US" sz="1200" dirty="0"/>
          </a:p>
        </p:txBody>
      </p:sp>
      <p:sp>
        <p:nvSpPr>
          <p:cNvPr id="11" name="Shape 9"/>
          <p:cNvSpPr/>
          <p:nvPr/>
        </p:nvSpPr>
        <p:spPr>
          <a:xfrm>
            <a:off x="7406640" y="1005840"/>
            <a:ext cx="1554480" cy="640080"/>
          </a:xfrm>
          <a:prstGeom prst="roundRect">
            <a:avLst>
              <a:gd name="adj" fmla="val 11429"/>
            </a:avLst>
          </a:prstGeom>
          <a:solidFill>
            <a:srgbClr val="F5A623"/>
          </a:solidFill>
          <a:ln/>
        </p:spPr>
      </p:sp>
      <p:sp>
        <p:nvSpPr>
          <p:cNvPr id="12" name="Text 10"/>
          <p:cNvSpPr/>
          <p:nvPr/>
        </p:nvSpPr>
        <p:spPr>
          <a:xfrm>
            <a:off x="7406640" y="1005840"/>
            <a:ext cx="155448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EVENT</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حدث</a:t>
            </a:r>
            <a:endParaRPr lang="en-US" sz="1200" dirty="0"/>
          </a:p>
        </p:txBody>
      </p:sp>
      <p:sp>
        <p:nvSpPr>
          <p:cNvPr id="13" name="Text 11"/>
          <p:cNvSpPr/>
          <p:nvPr/>
        </p:nvSpPr>
        <p:spPr>
          <a:xfrm>
            <a:off x="548640" y="1920240"/>
            <a:ext cx="4114800"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أنواع المحتوى (7 أنواع)</a:t>
            </a:r>
            <a:endParaRPr lang="en-US" sz="1600" dirty="0"/>
          </a:p>
        </p:txBody>
      </p:sp>
      <p:sp>
        <p:nvSpPr>
          <p:cNvPr id="14" name="Text 12"/>
          <p:cNvSpPr/>
          <p:nvPr/>
        </p:nvSpPr>
        <p:spPr>
          <a:xfrm>
            <a:off x="548640" y="2331720"/>
            <a:ext cx="8046720" cy="3657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TEXT  |  FILE  |  LINK  |  VIDEO  |  IMAGE  |  CODE  |  QUESTION</a:t>
            </a:r>
            <a:endParaRPr lang="en-US" sz="1300" dirty="0"/>
          </a:p>
        </p:txBody>
      </p:sp>
      <p:sp>
        <p:nvSpPr>
          <p:cNvPr id="15" name="Text 13"/>
          <p:cNvSpPr/>
          <p:nvPr/>
        </p:nvSpPr>
        <p:spPr>
          <a:xfrm>
            <a:off x="548640" y="2926080"/>
            <a:ext cx="4114800"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مسار التقديم</a:t>
            </a:r>
            <a:endParaRPr lang="en-US" sz="1600" dirty="0"/>
          </a:p>
        </p:txBody>
      </p:sp>
      <p:sp>
        <p:nvSpPr>
          <p:cNvPr id="16" name="Shape 14"/>
          <p:cNvSpPr/>
          <p:nvPr/>
        </p:nvSpPr>
        <p:spPr>
          <a:xfrm>
            <a:off x="548640" y="3383280"/>
            <a:ext cx="1828800" cy="457200"/>
          </a:xfrm>
          <a:prstGeom prst="roundRect">
            <a:avLst>
              <a:gd name="adj" fmla="val 12000"/>
            </a:avLst>
          </a:prstGeom>
          <a:solidFill>
            <a:srgbClr val="6B7B9A"/>
          </a:solidFill>
          <a:ln/>
        </p:spPr>
      </p:sp>
      <p:sp>
        <p:nvSpPr>
          <p:cNvPr id="17" name="Text 15"/>
          <p:cNvSpPr/>
          <p:nvPr/>
        </p:nvSpPr>
        <p:spPr>
          <a:xfrm>
            <a:off x="548640" y="3383280"/>
            <a:ext cx="18288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PENDING</a:t>
            </a:r>
            <a:endParaRPr lang="en-US" sz="1300" dirty="0"/>
          </a:p>
        </p:txBody>
      </p:sp>
      <p:sp>
        <p:nvSpPr>
          <p:cNvPr id="18" name="Shape 16"/>
          <p:cNvSpPr/>
          <p:nvPr/>
        </p:nvSpPr>
        <p:spPr>
          <a:xfrm>
            <a:off x="2651760" y="3383280"/>
            <a:ext cx="1828800" cy="457200"/>
          </a:xfrm>
          <a:prstGeom prst="roundRect">
            <a:avLst>
              <a:gd name="adj" fmla="val 12000"/>
            </a:avLst>
          </a:prstGeom>
          <a:solidFill>
            <a:srgbClr val="2E86C1"/>
          </a:solidFill>
          <a:ln/>
        </p:spPr>
      </p:sp>
      <p:sp>
        <p:nvSpPr>
          <p:cNvPr id="19" name="Text 17"/>
          <p:cNvSpPr/>
          <p:nvPr/>
        </p:nvSpPr>
        <p:spPr>
          <a:xfrm>
            <a:off x="2651760" y="3383280"/>
            <a:ext cx="18288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SUBMITTED</a:t>
            </a:r>
            <a:endParaRPr lang="en-US" sz="1300" dirty="0"/>
          </a:p>
        </p:txBody>
      </p:sp>
      <p:sp>
        <p:nvSpPr>
          <p:cNvPr id="20" name="Shape 18"/>
          <p:cNvSpPr/>
          <p:nvPr/>
        </p:nvSpPr>
        <p:spPr>
          <a:xfrm>
            <a:off x="4754880" y="3383280"/>
            <a:ext cx="1828800" cy="457200"/>
          </a:xfrm>
          <a:prstGeom prst="roundRect">
            <a:avLst>
              <a:gd name="adj" fmla="val 12000"/>
            </a:avLst>
          </a:prstGeom>
          <a:solidFill>
            <a:srgbClr val="C0392B"/>
          </a:solidFill>
          <a:ln/>
        </p:spPr>
      </p:sp>
      <p:sp>
        <p:nvSpPr>
          <p:cNvPr id="21" name="Text 19"/>
          <p:cNvSpPr/>
          <p:nvPr/>
        </p:nvSpPr>
        <p:spPr>
          <a:xfrm>
            <a:off x="4754880" y="3383280"/>
            <a:ext cx="18288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LATE</a:t>
            </a:r>
            <a:endParaRPr lang="en-US" sz="1300" dirty="0"/>
          </a:p>
        </p:txBody>
      </p:sp>
      <p:sp>
        <p:nvSpPr>
          <p:cNvPr id="22" name="Shape 20"/>
          <p:cNvSpPr/>
          <p:nvPr/>
        </p:nvSpPr>
        <p:spPr>
          <a:xfrm>
            <a:off x="6858000" y="3383280"/>
            <a:ext cx="1828800" cy="457200"/>
          </a:xfrm>
          <a:prstGeom prst="roundRect">
            <a:avLst>
              <a:gd name="adj" fmla="val 12000"/>
            </a:avLst>
          </a:prstGeom>
          <a:solidFill>
            <a:srgbClr val="1E6F5C"/>
          </a:solidFill>
          <a:ln/>
        </p:spPr>
      </p:sp>
      <p:sp>
        <p:nvSpPr>
          <p:cNvPr id="23" name="Text 21"/>
          <p:cNvSpPr/>
          <p:nvPr/>
        </p:nvSpPr>
        <p:spPr>
          <a:xfrm>
            <a:off x="6858000" y="3383280"/>
            <a:ext cx="18288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GRADED</a:t>
            </a:r>
            <a:endParaRPr lang="en-US" sz="1300" dirty="0"/>
          </a:p>
        </p:txBody>
      </p:sp>
      <p:sp>
        <p:nvSpPr>
          <p:cNvPr id="24" name="Shape 22"/>
          <p:cNvSpPr/>
          <p:nvPr/>
        </p:nvSpPr>
        <p:spPr>
          <a:xfrm>
            <a:off x="548640" y="4069080"/>
            <a:ext cx="8046720" cy="594360"/>
          </a:xfrm>
          <a:prstGeom prst="roundRect">
            <a:avLst>
              <a:gd name="adj" fmla="val 12308"/>
            </a:avLst>
          </a:prstGeom>
          <a:solidFill>
            <a:srgbClr val="FFFFFF"/>
          </a:solidFill>
          <a:ln/>
          <a:effectLst>
            <a:outerShdw sx="100000" sy="100000" kx="0" ky="0" algn="bl" rotWithShape="0" blurRad="101600" dist="38100" dir="2700000">
              <a:srgbClr val="000000">
                <a:alpha val="18000"/>
              </a:srgbClr>
            </a:outerShdw>
          </a:effectLst>
        </p:spPr>
      </p:sp>
      <p:sp>
        <p:nvSpPr>
          <p:cNvPr id="25" name="Text 23"/>
          <p:cNvSpPr/>
          <p:nvPr/>
        </p:nvSpPr>
        <p:spPr>
          <a:xfrm>
            <a:off x="731520" y="4069080"/>
            <a:ext cx="7680960" cy="594360"/>
          </a:xfrm>
          <a:prstGeom prst="rect">
            <a:avLst/>
          </a:prstGeom>
          <a:noFill/>
          <a:ln/>
        </p:spPr>
        <p:txBody>
          <a:bodyPr wrap="square" lIns="0" tIns="0" rIns="0" bIns="0" rtlCol="0" anchor="ctr"/>
          <a:lstStyle/>
          <a:p>
            <a:pPr algn="ctr" indent="0" marL="0">
              <a:buNone/>
            </a:pPr>
            <a:r>
              <a:rPr lang="en-US" sz="1200" dirty="0">
                <a:solidFill>
                  <a:srgbClr val="2D3748"/>
                </a:solidFill>
                <a:latin typeface="Calibri" pitchFamily="34" charset="0"/>
                <a:ea typeface="Calibri" pitchFamily="34" charset="-122"/>
                <a:cs typeface="Calibri" pitchFamily="34" charset="-120"/>
              </a:rPr>
              <a:t>المرفقات  |  التقييم والملاحظات  |  تاريخ الاستحقاق  |  النقاط  |  الـ Unique Constraint للطالب</a:t>
            </a:r>
            <a:endParaRPr lang="en-US" sz="1200" dirty="0"/>
          </a:p>
        </p:txBody>
      </p:sp>
      <p:sp>
        <p:nvSpPr>
          <p:cNvPr id="26" name="Text 24"/>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16 / 20</a:t>
            </a:r>
            <a:endParaRPr lang="en-US" sz="900" dirty="0"/>
          </a:p>
        </p:txBody>
      </p:sp>
      <p:pic>
        <p:nvPicPr>
          <p:cNvPr id="27"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الأمان والمصادقة</a:t>
            </a:r>
            <a:endParaRPr lang="en-US" sz="3200" dirty="0"/>
          </a:p>
        </p:txBody>
      </p:sp>
      <p:sp>
        <p:nvSpPr>
          <p:cNvPr id="3" name="Shape 1"/>
          <p:cNvSpPr/>
          <p:nvPr/>
        </p:nvSpPr>
        <p:spPr>
          <a:xfrm>
            <a:off x="457200" y="1005840"/>
            <a:ext cx="3931920" cy="1051560"/>
          </a:xfrm>
          <a:prstGeom prst="roundRect">
            <a:avLst>
              <a:gd name="adj" fmla="val 8696"/>
            </a:avLst>
          </a:prstGeom>
          <a:solidFill>
            <a:srgbClr val="1B2A4A"/>
          </a:solidFill>
          <a:ln/>
        </p:spPr>
      </p:sp>
      <p:sp>
        <p:nvSpPr>
          <p:cNvPr id="4" name="Text 2"/>
          <p:cNvSpPr/>
          <p:nvPr/>
        </p:nvSpPr>
        <p:spPr>
          <a:xfrm>
            <a:off x="640080" y="1097280"/>
            <a:ext cx="3566160" cy="36576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NextAuth.js + JWT</a:t>
            </a:r>
            <a:endParaRPr lang="en-US" sz="1500" dirty="0"/>
          </a:p>
        </p:txBody>
      </p:sp>
      <p:sp>
        <p:nvSpPr>
          <p:cNvPr id="5" name="Text 3"/>
          <p:cNvSpPr/>
          <p:nvPr/>
        </p:nvSpPr>
        <p:spPr>
          <a:xfrm>
            <a:off x="640080" y="1463040"/>
            <a:ext cx="356616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مصادقة آمنة بـ JSON Web Tokens — كل طلب بيتحقق من التوكن</a:t>
            </a:r>
            <a:endParaRPr lang="en-US" sz="1100" dirty="0"/>
          </a:p>
        </p:txBody>
      </p:sp>
      <p:sp>
        <p:nvSpPr>
          <p:cNvPr id="6" name="Shape 4"/>
          <p:cNvSpPr/>
          <p:nvPr/>
        </p:nvSpPr>
        <p:spPr>
          <a:xfrm>
            <a:off x="4754880" y="1005840"/>
            <a:ext cx="3931920" cy="1051560"/>
          </a:xfrm>
          <a:prstGeom prst="roundRect">
            <a:avLst>
              <a:gd name="adj" fmla="val 8696"/>
            </a:avLst>
          </a:prstGeom>
          <a:solidFill>
            <a:srgbClr val="1B2A4A"/>
          </a:solidFill>
          <a:ln/>
        </p:spPr>
      </p:sp>
      <p:sp>
        <p:nvSpPr>
          <p:cNvPr id="7" name="Text 5"/>
          <p:cNvSpPr/>
          <p:nvPr/>
        </p:nvSpPr>
        <p:spPr>
          <a:xfrm>
            <a:off x="4937760" y="1097280"/>
            <a:ext cx="3566160" cy="36576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Role-Based Access Control</a:t>
            </a:r>
            <a:endParaRPr lang="en-US" sz="1500" dirty="0"/>
          </a:p>
        </p:txBody>
      </p:sp>
      <p:sp>
        <p:nvSpPr>
          <p:cNvPr id="8" name="Text 6"/>
          <p:cNvSpPr/>
          <p:nvPr/>
        </p:nvSpPr>
        <p:spPr>
          <a:xfrm>
            <a:off x="4937760" y="1463040"/>
            <a:ext cx="356616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5 أدوار — كل دور ليه صلاحيات محددة ومسارات مخصصة</a:t>
            </a:r>
            <a:endParaRPr lang="en-US" sz="1100" dirty="0"/>
          </a:p>
        </p:txBody>
      </p:sp>
      <p:sp>
        <p:nvSpPr>
          <p:cNvPr id="9" name="Shape 7"/>
          <p:cNvSpPr/>
          <p:nvPr/>
        </p:nvSpPr>
        <p:spPr>
          <a:xfrm>
            <a:off x="457200" y="2240280"/>
            <a:ext cx="3931920" cy="1051560"/>
          </a:xfrm>
          <a:prstGeom prst="roundRect">
            <a:avLst>
              <a:gd name="adj" fmla="val 8696"/>
            </a:avLst>
          </a:prstGeom>
          <a:solidFill>
            <a:srgbClr val="1B2A4A"/>
          </a:solidFill>
          <a:ln/>
        </p:spPr>
      </p:sp>
      <p:sp>
        <p:nvSpPr>
          <p:cNvPr id="10" name="Text 8"/>
          <p:cNvSpPr/>
          <p:nvPr/>
        </p:nvSpPr>
        <p:spPr>
          <a:xfrm>
            <a:off x="640080" y="2331720"/>
            <a:ext cx="3566160" cy="36576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Cascade Delete</a:t>
            </a:r>
            <a:endParaRPr lang="en-US" sz="1500" dirty="0"/>
          </a:p>
        </p:txBody>
      </p:sp>
      <p:sp>
        <p:nvSpPr>
          <p:cNvPr id="11" name="Text 9"/>
          <p:cNvSpPr/>
          <p:nvPr/>
        </p:nvSpPr>
        <p:spPr>
          <a:xfrm>
            <a:off x="640080" y="2697480"/>
            <a:ext cx="356616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حذف المستخدم بيحذف كل بياناته تلقائياً — مفيش بيانات يتيمة</a:t>
            </a:r>
            <a:endParaRPr lang="en-US" sz="1100" dirty="0"/>
          </a:p>
        </p:txBody>
      </p:sp>
      <p:sp>
        <p:nvSpPr>
          <p:cNvPr id="12" name="Shape 10"/>
          <p:cNvSpPr/>
          <p:nvPr/>
        </p:nvSpPr>
        <p:spPr>
          <a:xfrm>
            <a:off x="4754880" y="2240280"/>
            <a:ext cx="3931920" cy="1051560"/>
          </a:xfrm>
          <a:prstGeom prst="roundRect">
            <a:avLst>
              <a:gd name="adj" fmla="val 8696"/>
            </a:avLst>
          </a:prstGeom>
          <a:solidFill>
            <a:srgbClr val="1B2A4A"/>
          </a:solidFill>
          <a:ln/>
        </p:spPr>
      </p:sp>
      <p:sp>
        <p:nvSpPr>
          <p:cNvPr id="13" name="Text 11"/>
          <p:cNvSpPr/>
          <p:nvPr/>
        </p:nvSpPr>
        <p:spPr>
          <a:xfrm>
            <a:off x="4937760" y="2331720"/>
            <a:ext cx="3566160" cy="36576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Unique Constraints</a:t>
            </a:r>
            <a:endParaRPr lang="en-US" sz="1500" dirty="0"/>
          </a:p>
        </p:txBody>
      </p:sp>
      <p:sp>
        <p:nvSpPr>
          <p:cNvPr id="14" name="Text 12"/>
          <p:cNvSpPr/>
          <p:nvPr/>
        </p:nvSpPr>
        <p:spPr>
          <a:xfrm>
            <a:off x="4937760" y="2697480"/>
            <a:ext cx="356616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منع التكرار على مستوى قاعدة البيانات — طالب واحد / session واحدة</a:t>
            </a:r>
            <a:endParaRPr lang="en-US" sz="1100" dirty="0"/>
          </a:p>
        </p:txBody>
      </p:sp>
      <p:sp>
        <p:nvSpPr>
          <p:cNvPr id="15" name="Shape 13"/>
          <p:cNvSpPr/>
          <p:nvPr/>
        </p:nvSpPr>
        <p:spPr>
          <a:xfrm>
            <a:off x="457200" y="3474720"/>
            <a:ext cx="3931920" cy="1051560"/>
          </a:xfrm>
          <a:prstGeom prst="roundRect">
            <a:avLst>
              <a:gd name="adj" fmla="val 8696"/>
            </a:avLst>
          </a:prstGeom>
          <a:solidFill>
            <a:srgbClr val="1B2A4A"/>
          </a:solidFill>
          <a:ln/>
        </p:spPr>
      </p:sp>
      <p:sp>
        <p:nvSpPr>
          <p:cNvPr id="16" name="Text 14"/>
          <p:cNvSpPr/>
          <p:nvPr/>
        </p:nvSpPr>
        <p:spPr>
          <a:xfrm>
            <a:off x="640080" y="3566160"/>
            <a:ext cx="3566160" cy="36576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Admin Audit Log</a:t>
            </a:r>
            <a:endParaRPr lang="en-US" sz="1500" dirty="0"/>
          </a:p>
        </p:txBody>
      </p:sp>
      <p:sp>
        <p:nvSpPr>
          <p:cNvPr id="17" name="Text 15"/>
          <p:cNvSpPr/>
          <p:nvPr/>
        </p:nvSpPr>
        <p:spPr>
          <a:xfrm>
            <a:off x="640080" y="3931920"/>
            <a:ext cx="356616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كل عملية إدارية بتتسجل — مين عمل إيه وإمتى ومن أي IP</a:t>
            </a:r>
            <a:endParaRPr lang="en-US" sz="1100" dirty="0"/>
          </a:p>
        </p:txBody>
      </p:sp>
      <p:sp>
        <p:nvSpPr>
          <p:cNvPr id="18" name="Shape 16"/>
          <p:cNvSpPr/>
          <p:nvPr/>
        </p:nvSpPr>
        <p:spPr>
          <a:xfrm>
            <a:off x="4754880" y="3474720"/>
            <a:ext cx="3931920" cy="1051560"/>
          </a:xfrm>
          <a:prstGeom prst="roundRect">
            <a:avLst>
              <a:gd name="adj" fmla="val 8696"/>
            </a:avLst>
          </a:prstGeom>
          <a:solidFill>
            <a:srgbClr val="1B2A4A"/>
          </a:solidFill>
          <a:ln/>
        </p:spPr>
      </p:sp>
      <p:sp>
        <p:nvSpPr>
          <p:cNvPr id="19" name="Text 17"/>
          <p:cNvSpPr/>
          <p:nvPr/>
        </p:nvSpPr>
        <p:spPr>
          <a:xfrm>
            <a:off x="4937760" y="3566160"/>
            <a:ext cx="3566160" cy="36576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Password Change Enforcement</a:t>
            </a:r>
            <a:endParaRPr lang="en-US" sz="1500" dirty="0"/>
          </a:p>
        </p:txBody>
      </p:sp>
      <p:sp>
        <p:nvSpPr>
          <p:cNvPr id="20" name="Text 18"/>
          <p:cNvSpPr/>
          <p:nvPr/>
        </p:nvSpPr>
        <p:spPr>
          <a:xfrm>
            <a:off x="4937760" y="3931920"/>
            <a:ext cx="356616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أول تسجيل دخول → إجبار تغيير كلمة المرور</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1B2A4A"/>
                </a:solidFill>
                <a:latin typeface="Calibri" pitchFamily="34" charset="0"/>
                <a:ea typeface="Calibri" pitchFamily="34" charset="-122"/>
                <a:cs typeface="Calibri" pitchFamily="34" charset="-120"/>
              </a:rPr>
              <a:t>النتائج والإنجازات</a:t>
            </a:r>
            <a:endParaRPr lang="en-US" sz="3200" dirty="0"/>
          </a:p>
        </p:txBody>
      </p:sp>
      <p:sp>
        <p:nvSpPr>
          <p:cNvPr id="3" name="Shape 1"/>
          <p:cNvSpPr/>
          <p:nvPr/>
        </p:nvSpPr>
        <p:spPr>
          <a:xfrm>
            <a:off x="457200" y="1005840"/>
            <a:ext cx="1965960" cy="1463040"/>
          </a:xfrm>
          <a:prstGeom prst="roundRect">
            <a:avLst>
              <a:gd name="adj" fmla="val 7500"/>
            </a:avLst>
          </a:prstGeom>
          <a:solidFill>
            <a:srgbClr val="FFFFFF"/>
          </a:solidFill>
          <a:ln/>
          <a:effectLst>
            <a:outerShdw sx="100000" sy="100000" kx="0" ky="0" algn="bl" rotWithShape="0" blurRad="101600" dist="38100" dir="2700000">
              <a:srgbClr val="000000">
                <a:alpha val="18000"/>
              </a:srgbClr>
            </a:outerShdw>
          </a:effectLst>
        </p:spPr>
      </p:sp>
      <p:sp>
        <p:nvSpPr>
          <p:cNvPr id="4" name="Text 2"/>
          <p:cNvSpPr/>
          <p:nvPr/>
        </p:nvSpPr>
        <p:spPr>
          <a:xfrm>
            <a:off x="457200" y="1097280"/>
            <a:ext cx="1965960" cy="731520"/>
          </a:xfrm>
          <a:prstGeom prst="rect">
            <a:avLst/>
          </a:prstGeom>
          <a:noFill/>
          <a:ln/>
        </p:spPr>
        <p:txBody>
          <a:bodyPr wrap="square" rtlCol="0" anchor="ctr"/>
          <a:lstStyle/>
          <a:p>
            <a:pPr algn="ctr" indent="0" marL="0">
              <a:buNone/>
            </a:pPr>
            <a:r>
              <a:rPr lang="en-US" sz="4400" b="1" dirty="0">
                <a:solidFill>
                  <a:srgbClr val="2E86C1"/>
                </a:solidFill>
                <a:latin typeface="Calibri" pitchFamily="34" charset="0"/>
                <a:ea typeface="Calibri" pitchFamily="34" charset="-122"/>
                <a:cs typeface="Calibri" pitchFamily="34" charset="-120"/>
              </a:rPr>
              <a:t>20+</a:t>
            </a:r>
            <a:endParaRPr lang="en-US" sz="4400" dirty="0"/>
          </a:p>
        </p:txBody>
      </p:sp>
      <p:sp>
        <p:nvSpPr>
          <p:cNvPr id="5" name="Text 3"/>
          <p:cNvSpPr/>
          <p:nvPr/>
        </p:nvSpPr>
        <p:spPr>
          <a:xfrm>
            <a:off x="457200" y="1828800"/>
            <a:ext cx="1965960" cy="502920"/>
          </a:xfrm>
          <a:prstGeom prst="rect">
            <a:avLst/>
          </a:prstGeom>
          <a:noFill/>
          <a:ln/>
        </p:spPr>
        <p:txBody>
          <a:bodyPr wrap="square" lIns="0" tIns="0" rIns="0" bIns="0" rtlCol="0" anchor="t"/>
          <a:lstStyle/>
          <a:p>
            <a:pPr algn="ctr" indent="0" marL="0">
              <a:buNone/>
            </a:pPr>
            <a:r>
              <a:rPr lang="en-US" sz="1200" dirty="0">
                <a:solidFill>
                  <a:srgbClr val="2D3748"/>
                </a:solidFill>
                <a:latin typeface="Calibri" pitchFamily="34" charset="0"/>
                <a:ea typeface="Calibri" pitchFamily="34" charset="-122"/>
                <a:cs typeface="Calibri" pitchFamily="34" charset="-120"/>
              </a:rPr>
              <a:t>جدول في قاعدة البيانات</a:t>
            </a:r>
            <a:endParaRPr lang="en-US" sz="1200" dirty="0"/>
          </a:p>
        </p:txBody>
      </p:sp>
      <p:sp>
        <p:nvSpPr>
          <p:cNvPr id="6" name="Shape 4"/>
          <p:cNvSpPr/>
          <p:nvPr/>
        </p:nvSpPr>
        <p:spPr>
          <a:xfrm>
            <a:off x="2606040" y="1005840"/>
            <a:ext cx="1965960" cy="1463040"/>
          </a:xfrm>
          <a:prstGeom prst="roundRect">
            <a:avLst>
              <a:gd name="adj" fmla="val 7500"/>
            </a:avLst>
          </a:prstGeom>
          <a:solidFill>
            <a:srgbClr val="FFFFFF"/>
          </a:solidFill>
          <a:ln/>
          <a:effectLst>
            <a:outerShdw sx="100000" sy="100000" kx="0" ky="0" algn="bl" rotWithShape="0" blurRad="101600" dist="38100" dir="2700000">
              <a:srgbClr val="000000">
                <a:alpha val="18000"/>
              </a:srgbClr>
            </a:outerShdw>
          </a:effectLst>
        </p:spPr>
      </p:sp>
      <p:sp>
        <p:nvSpPr>
          <p:cNvPr id="7" name="Text 5"/>
          <p:cNvSpPr/>
          <p:nvPr/>
        </p:nvSpPr>
        <p:spPr>
          <a:xfrm>
            <a:off x="2606040" y="1097280"/>
            <a:ext cx="1965960" cy="731520"/>
          </a:xfrm>
          <a:prstGeom prst="rect">
            <a:avLst/>
          </a:prstGeom>
          <a:noFill/>
          <a:ln/>
        </p:spPr>
        <p:txBody>
          <a:bodyPr wrap="square" rtlCol="0" anchor="ctr"/>
          <a:lstStyle/>
          <a:p>
            <a:pPr algn="ctr" indent="0" marL="0">
              <a:buNone/>
            </a:pPr>
            <a:r>
              <a:rPr lang="en-US" sz="4400" b="1" dirty="0">
                <a:solidFill>
                  <a:srgbClr val="1E6F5C"/>
                </a:solidFill>
                <a:latin typeface="Calibri" pitchFamily="34" charset="0"/>
                <a:ea typeface="Calibri" pitchFamily="34" charset="-122"/>
                <a:cs typeface="Calibri" pitchFamily="34" charset="-120"/>
              </a:rPr>
              <a:t>5</a:t>
            </a:r>
            <a:endParaRPr lang="en-US" sz="4400" dirty="0"/>
          </a:p>
        </p:txBody>
      </p:sp>
      <p:sp>
        <p:nvSpPr>
          <p:cNvPr id="8" name="Text 6"/>
          <p:cNvSpPr/>
          <p:nvPr/>
        </p:nvSpPr>
        <p:spPr>
          <a:xfrm>
            <a:off x="2606040" y="1828800"/>
            <a:ext cx="1965960" cy="502920"/>
          </a:xfrm>
          <a:prstGeom prst="rect">
            <a:avLst/>
          </a:prstGeom>
          <a:noFill/>
          <a:ln/>
        </p:spPr>
        <p:txBody>
          <a:bodyPr wrap="square" lIns="0" tIns="0" rIns="0" bIns="0" rtlCol="0" anchor="t"/>
          <a:lstStyle/>
          <a:p>
            <a:pPr algn="ctr" indent="0" marL="0">
              <a:buNone/>
            </a:pPr>
            <a:r>
              <a:rPr lang="en-US" sz="1200" dirty="0">
                <a:solidFill>
                  <a:srgbClr val="2D3748"/>
                </a:solidFill>
                <a:latin typeface="Calibri" pitchFamily="34" charset="0"/>
                <a:ea typeface="Calibri" pitchFamily="34" charset="-122"/>
                <a:cs typeface="Calibri" pitchFamily="34" charset="-120"/>
              </a:rPr>
              <a:t>أدوار مستخدمين</a:t>
            </a:r>
            <a:endParaRPr lang="en-US" sz="1200" dirty="0"/>
          </a:p>
        </p:txBody>
      </p:sp>
      <p:sp>
        <p:nvSpPr>
          <p:cNvPr id="9" name="Shape 7"/>
          <p:cNvSpPr/>
          <p:nvPr/>
        </p:nvSpPr>
        <p:spPr>
          <a:xfrm>
            <a:off x="4754880" y="1005840"/>
            <a:ext cx="1965960" cy="1463040"/>
          </a:xfrm>
          <a:prstGeom prst="roundRect">
            <a:avLst>
              <a:gd name="adj" fmla="val 7500"/>
            </a:avLst>
          </a:prstGeom>
          <a:solidFill>
            <a:srgbClr val="FFFFFF"/>
          </a:solidFill>
          <a:ln/>
          <a:effectLst>
            <a:outerShdw sx="100000" sy="100000" kx="0" ky="0" algn="bl" rotWithShape="0" blurRad="101600" dist="38100" dir="2700000">
              <a:srgbClr val="000000">
                <a:alpha val="18000"/>
              </a:srgbClr>
            </a:outerShdw>
          </a:effectLst>
        </p:spPr>
      </p:sp>
      <p:sp>
        <p:nvSpPr>
          <p:cNvPr id="10" name="Text 8"/>
          <p:cNvSpPr/>
          <p:nvPr/>
        </p:nvSpPr>
        <p:spPr>
          <a:xfrm>
            <a:off x="4754880" y="1097280"/>
            <a:ext cx="1965960" cy="731520"/>
          </a:xfrm>
          <a:prstGeom prst="rect">
            <a:avLst/>
          </a:prstGeom>
          <a:noFill/>
          <a:ln/>
        </p:spPr>
        <p:txBody>
          <a:bodyPr wrap="square" rtlCol="0" anchor="ctr"/>
          <a:lstStyle/>
          <a:p>
            <a:pPr algn="ctr" indent="0" marL="0">
              <a:buNone/>
            </a:pPr>
            <a:r>
              <a:rPr lang="en-US" sz="4400" b="1" dirty="0">
                <a:solidFill>
                  <a:srgbClr val="C0392B"/>
                </a:solidFill>
                <a:latin typeface="Calibri" pitchFamily="34" charset="0"/>
                <a:ea typeface="Calibri" pitchFamily="34" charset="-122"/>
                <a:cs typeface="Calibri" pitchFamily="34" charset="-120"/>
              </a:rPr>
              <a:t>2</a:t>
            </a:r>
            <a:endParaRPr lang="en-US" sz="4400" dirty="0"/>
          </a:p>
        </p:txBody>
      </p:sp>
      <p:sp>
        <p:nvSpPr>
          <p:cNvPr id="11" name="Text 9"/>
          <p:cNvSpPr/>
          <p:nvPr/>
        </p:nvSpPr>
        <p:spPr>
          <a:xfrm>
            <a:off x="4754880" y="1828800"/>
            <a:ext cx="1965960" cy="502920"/>
          </a:xfrm>
          <a:prstGeom prst="rect">
            <a:avLst/>
          </a:prstGeom>
          <a:noFill/>
          <a:ln/>
        </p:spPr>
        <p:txBody>
          <a:bodyPr wrap="square" lIns="0" tIns="0" rIns="0" bIns="0" rtlCol="0" anchor="t"/>
          <a:lstStyle/>
          <a:p>
            <a:pPr algn="ctr" indent="0" marL="0">
              <a:buNone/>
            </a:pPr>
            <a:r>
              <a:rPr lang="en-US" sz="1200" dirty="0">
                <a:solidFill>
                  <a:srgbClr val="2D3748"/>
                </a:solidFill>
                <a:latin typeface="Calibri" pitchFamily="34" charset="0"/>
                <a:ea typeface="Calibri" pitchFamily="34" charset="-122"/>
                <a:cs typeface="Calibri" pitchFamily="34" charset="-120"/>
              </a:rPr>
              <a:t>خوارزميات AI للتعرف على الوجه</a:t>
            </a:r>
            <a:endParaRPr lang="en-US" sz="1200" dirty="0"/>
          </a:p>
        </p:txBody>
      </p:sp>
      <p:sp>
        <p:nvSpPr>
          <p:cNvPr id="12" name="Shape 10"/>
          <p:cNvSpPr/>
          <p:nvPr/>
        </p:nvSpPr>
        <p:spPr>
          <a:xfrm>
            <a:off x="6903720" y="1005840"/>
            <a:ext cx="1965960" cy="1463040"/>
          </a:xfrm>
          <a:prstGeom prst="roundRect">
            <a:avLst>
              <a:gd name="adj" fmla="val 7500"/>
            </a:avLst>
          </a:prstGeom>
          <a:solidFill>
            <a:srgbClr val="FFFFFF"/>
          </a:solidFill>
          <a:ln/>
          <a:effectLst>
            <a:outerShdw sx="100000" sy="100000" kx="0" ky="0" algn="bl" rotWithShape="0" blurRad="101600" dist="38100" dir="2700000">
              <a:srgbClr val="000000">
                <a:alpha val="18000"/>
              </a:srgbClr>
            </a:outerShdw>
          </a:effectLst>
        </p:spPr>
      </p:sp>
      <p:sp>
        <p:nvSpPr>
          <p:cNvPr id="13" name="Text 11"/>
          <p:cNvSpPr/>
          <p:nvPr/>
        </p:nvSpPr>
        <p:spPr>
          <a:xfrm>
            <a:off x="6903720" y="1097280"/>
            <a:ext cx="1965960" cy="731520"/>
          </a:xfrm>
          <a:prstGeom prst="rect">
            <a:avLst/>
          </a:prstGeom>
          <a:noFill/>
          <a:ln/>
        </p:spPr>
        <p:txBody>
          <a:bodyPr wrap="square" rtlCol="0" anchor="ctr"/>
          <a:lstStyle/>
          <a:p>
            <a:pPr algn="ctr" indent="0" marL="0">
              <a:buNone/>
            </a:pPr>
            <a:r>
              <a:rPr lang="en-US" sz="4400" b="1" dirty="0">
                <a:solidFill>
                  <a:srgbClr val="8E44AD"/>
                </a:solidFill>
                <a:latin typeface="Calibri" pitchFamily="34" charset="0"/>
                <a:ea typeface="Calibri" pitchFamily="34" charset="-122"/>
                <a:cs typeface="Calibri" pitchFamily="34" charset="-120"/>
              </a:rPr>
              <a:t>7</a:t>
            </a:r>
            <a:endParaRPr lang="en-US" sz="4400" dirty="0"/>
          </a:p>
        </p:txBody>
      </p:sp>
      <p:sp>
        <p:nvSpPr>
          <p:cNvPr id="14" name="Text 12"/>
          <p:cNvSpPr/>
          <p:nvPr/>
        </p:nvSpPr>
        <p:spPr>
          <a:xfrm>
            <a:off x="6903720" y="1828800"/>
            <a:ext cx="1965960" cy="502920"/>
          </a:xfrm>
          <a:prstGeom prst="rect">
            <a:avLst/>
          </a:prstGeom>
          <a:noFill/>
          <a:ln/>
        </p:spPr>
        <p:txBody>
          <a:bodyPr wrap="square" lIns="0" tIns="0" rIns="0" bIns="0" rtlCol="0" anchor="t"/>
          <a:lstStyle/>
          <a:p>
            <a:pPr algn="ctr" indent="0" marL="0">
              <a:buNone/>
            </a:pPr>
            <a:r>
              <a:rPr lang="en-US" sz="1200" dirty="0">
                <a:solidFill>
                  <a:srgbClr val="2D3748"/>
                </a:solidFill>
                <a:latin typeface="Calibri" pitchFamily="34" charset="0"/>
                <a:ea typeface="Calibri" pitchFamily="34" charset="-122"/>
                <a:cs typeface="Calibri" pitchFamily="34" charset="-120"/>
              </a:rPr>
              <a:t>أنواع محتوى للأنشطة</a:t>
            </a:r>
            <a:endParaRPr lang="en-US" sz="1200" dirty="0"/>
          </a:p>
        </p:txBody>
      </p:sp>
      <p:sp>
        <p:nvSpPr>
          <p:cNvPr id="15" name="Text 13"/>
          <p:cNvSpPr/>
          <p:nvPr/>
        </p:nvSpPr>
        <p:spPr>
          <a:xfrm>
            <a:off x="548640" y="2743200"/>
            <a:ext cx="8229600" cy="365760"/>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إنجازات رئيسية</a:t>
            </a:r>
            <a:endParaRPr lang="en-US" sz="1800" dirty="0"/>
          </a:p>
        </p:txBody>
      </p:sp>
      <p:sp>
        <p:nvSpPr>
          <p:cNvPr id="16" name="Text 14"/>
          <p:cNvSpPr/>
          <p:nvPr/>
        </p:nvSpPr>
        <p:spPr>
          <a:xfrm>
            <a:off x="731520" y="3154680"/>
            <a:ext cx="7680960" cy="1645920"/>
          </a:xfrm>
          <a:prstGeom prst="rect">
            <a:avLst/>
          </a:prstGeom>
          <a:noFill/>
          <a:ln/>
        </p:spPr>
        <p:txBody>
          <a:bodyPr wrap="square" rtlCol="0" anchor="ctr"/>
          <a:lstStyle/>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نظام حضور ذكي بالتعرف على الوجه — يمنع التزوير تماماً</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تصحيح امتحانات آلي بـ OCR — يوفر ساعات من العمل اليدوي</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نظام إنذار مبكر — يكتشف الطلاب المعرضين للخطر قبل الرسوب</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منصة شاملة — من التسجيل للتخرج في مكان واحد</a:t>
            </a:r>
            <a:endParaRPr lang="en-US" sz="1300" dirty="0"/>
          </a:p>
          <a:p>
            <a:pPr marL="342900" indent="-342900">
              <a:spcAft>
                <a:spcPts val="600"/>
              </a:spcAft>
              <a:buSzPct val="100000"/>
              <a:buChar char="•"/>
            </a:pPr>
            <a:r>
              <a:rPr lang="en-US" sz="1300" dirty="0">
                <a:solidFill>
                  <a:srgbClr val="2D3748"/>
                </a:solidFill>
                <a:latin typeface="Calibri" pitchFamily="34" charset="0"/>
                <a:ea typeface="Calibri" pitchFamily="34" charset="-122"/>
                <a:cs typeface="Calibri" pitchFamily="34" charset="-120"/>
              </a:rPr>
              <a:t>Device-Session Mapping — عدة محاضرات في نفس الوقت بدون تداخل</a:t>
            </a:r>
            <a:endParaRPr lang="en-US" sz="1300" dirty="0"/>
          </a:p>
        </p:txBody>
      </p:sp>
      <p:sp>
        <p:nvSpPr>
          <p:cNvPr id="17" name="Text 15"/>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18 / 20</a:t>
            </a:r>
            <a:endParaRPr lang="en-US" sz="900" dirty="0"/>
          </a:p>
        </p:txBody>
      </p:sp>
      <p:pic>
        <p:nvPicPr>
          <p:cNvPr id="18"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algn="ctr" indent="0" marL="0">
              <a:buNone/>
            </a:pPr>
            <a:r>
              <a:rPr lang="en-US" sz="3200" b="1" dirty="0">
                <a:solidFill>
                  <a:srgbClr val="1B2A4A"/>
                </a:solidFill>
                <a:latin typeface="Calibri" pitchFamily="34" charset="0"/>
                <a:ea typeface="Calibri" pitchFamily="34" charset="-122"/>
                <a:cs typeface="Calibri" pitchFamily="34" charset="-120"/>
              </a:rPr>
              <a:t>العمل المستقبلي</a:t>
            </a:r>
            <a:endParaRPr lang="en-US" sz="3200" dirty="0"/>
          </a:p>
        </p:txBody>
      </p:sp>
      <p:sp>
        <p:nvSpPr>
          <p:cNvPr id="3" name="Shape 1"/>
          <p:cNvSpPr/>
          <p:nvPr/>
        </p:nvSpPr>
        <p:spPr>
          <a:xfrm>
            <a:off x="548640" y="1005840"/>
            <a:ext cx="8046720" cy="621792"/>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4" name="Text 2"/>
          <p:cNvSpPr/>
          <p:nvPr/>
        </p:nvSpPr>
        <p:spPr>
          <a:xfrm>
            <a:off x="777240" y="1005840"/>
            <a:ext cx="2103120" cy="621792"/>
          </a:xfrm>
          <a:prstGeom prst="rect">
            <a:avLst/>
          </a:prstGeom>
          <a:noFill/>
          <a:ln/>
        </p:spPr>
        <p:txBody>
          <a:bodyPr wrap="square" lIns="0" tIns="0" rIns="0" bIns="0" rtlCol="0" anchor="ctr"/>
          <a:lstStyle/>
          <a:p>
            <a:pPr indent="0" marL="0">
              <a:buNone/>
            </a:pPr>
            <a:r>
              <a:rPr lang="en-US" sz="1500" b="1" dirty="0">
                <a:solidFill>
                  <a:srgbClr val="2E86C1"/>
                </a:solidFill>
                <a:latin typeface="Calibri" pitchFamily="34" charset="0"/>
                <a:ea typeface="Calibri" pitchFamily="34" charset="-122"/>
                <a:cs typeface="Calibri" pitchFamily="34" charset="-120"/>
              </a:rPr>
              <a:t>تطبيق موبايل</a:t>
            </a:r>
            <a:endParaRPr lang="en-US" sz="1500" dirty="0"/>
          </a:p>
        </p:txBody>
      </p:sp>
      <p:sp>
        <p:nvSpPr>
          <p:cNvPr id="5" name="Text 3"/>
          <p:cNvSpPr/>
          <p:nvPr/>
        </p:nvSpPr>
        <p:spPr>
          <a:xfrm>
            <a:off x="2926080" y="1005840"/>
            <a:ext cx="5486400" cy="62179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React Native app للطلاب والدكاتره — إشعارات فورية</a:t>
            </a:r>
            <a:endParaRPr lang="en-US" sz="1200" dirty="0"/>
          </a:p>
        </p:txBody>
      </p:sp>
      <p:sp>
        <p:nvSpPr>
          <p:cNvPr id="6" name="Shape 4"/>
          <p:cNvSpPr/>
          <p:nvPr/>
        </p:nvSpPr>
        <p:spPr>
          <a:xfrm>
            <a:off x="548640" y="1755648"/>
            <a:ext cx="8046720" cy="621792"/>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7" name="Text 5"/>
          <p:cNvSpPr/>
          <p:nvPr/>
        </p:nvSpPr>
        <p:spPr>
          <a:xfrm>
            <a:off x="777240" y="1755648"/>
            <a:ext cx="2103120" cy="621792"/>
          </a:xfrm>
          <a:prstGeom prst="rect">
            <a:avLst/>
          </a:prstGeom>
          <a:noFill/>
          <a:ln/>
        </p:spPr>
        <p:txBody>
          <a:bodyPr wrap="square" lIns="0" tIns="0" rIns="0" bIns="0" rtlCol="0" anchor="ctr"/>
          <a:lstStyle/>
          <a:p>
            <a:pPr indent="0" marL="0">
              <a:buNone/>
            </a:pPr>
            <a:r>
              <a:rPr lang="en-US" sz="1500" b="1" dirty="0">
                <a:solidFill>
                  <a:srgbClr val="1E6F5C"/>
                </a:solidFill>
                <a:latin typeface="Calibri" pitchFamily="34" charset="0"/>
                <a:ea typeface="Calibri" pitchFamily="34" charset="-122"/>
                <a:cs typeface="Calibri" pitchFamily="34" charset="-120"/>
              </a:rPr>
              <a:t>Deep Learning للوجه</a:t>
            </a:r>
            <a:endParaRPr lang="en-US" sz="1500" dirty="0"/>
          </a:p>
        </p:txBody>
      </p:sp>
      <p:sp>
        <p:nvSpPr>
          <p:cNvPr id="8" name="Text 6"/>
          <p:cNvSpPr/>
          <p:nvPr/>
        </p:nvSpPr>
        <p:spPr>
          <a:xfrm>
            <a:off x="2926080" y="1755648"/>
            <a:ext cx="5486400" cy="62179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استبدال LBP بـ CNN/DLIB لدقة أعلى في ظروف إضاءة مختلفة</a:t>
            </a:r>
            <a:endParaRPr lang="en-US" sz="1200" dirty="0"/>
          </a:p>
        </p:txBody>
      </p:sp>
      <p:sp>
        <p:nvSpPr>
          <p:cNvPr id="9" name="Shape 7"/>
          <p:cNvSpPr/>
          <p:nvPr/>
        </p:nvSpPr>
        <p:spPr>
          <a:xfrm>
            <a:off x="548640" y="2505456"/>
            <a:ext cx="8046720" cy="621792"/>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10" name="Text 8"/>
          <p:cNvSpPr/>
          <p:nvPr/>
        </p:nvSpPr>
        <p:spPr>
          <a:xfrm>
            <a:off x="777240" y="2505456"/>
            <a:ext cx="2103120" cy="621792"/>
          </a:xfrm>
          <a:prstGeom prst="rect">
            <a:avLst/>
          </a:prstGeom>
          <a:noFill/>
          <a:ln/>
        </p:spPr>
        <p:txBody>
          <a:bodyPr wrap="square" lIns="0" tIns="0" rIns="0" bIns="0" rtlCol="0" anchor="ctr"/>
          <a:lstStyle/>
          <a:p>
            <a:pPr indent="0" marL="0">
              <a:buNone/>
            </a:pPr>
            <a:r>
              <a:rPr lang="en-US" sz="1500" b="1" dirty="0">
                <a:solidFill>
                  <a:srgbClr val="8E44AD"/>
                </a:solidFill>
                <a:latin typeface="Calibri" pitchFamily="34" charset="0"/>
                <a:ea typeface="Calibri" pitchFamily="34" charset="-122"/>
                <a:cs typeface="Calibri" pitchFamily="34" charset="-120"/>
              </a:rPr>
              <a:t>AI Chatbot</a:t>
            </a:r>
            <a:endParaRPr lang="en-US" sz="1500" dirty="0"/>
          </a:p>
        </p:txBody>
      </p:sp>
      <p:sp>
        <p:nvSpPr>
          <p:cNvPr id="11" name="Text 9"/>
          <p:cNvSpPr/>
          <p:nvPr/>
        </p:nvSpPr>
        <p:spPr>
          <a:xfrm>
            <a:off x="2926080" y="2505456"/>
            <a:ext cx="5486400" cy="62179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مساعد ذكي للطلاب — يجاوب على الأسئلة ويقدم نصائح أكاديمية</a:t>
            </a:r>
            <a:endParaRPr lang="en-US" sz="1200" dirty="0"/>
          </a:p>
        </p:txBody>
      </p:sp>
      <p:sp>
        <p:nvSpPr>
          <p:cNvPr id="12" name="Shape 10"/>
          <p:cNvSpPr/>
          <p:nvPr/>
        </p:nvSpPr>
        <p:spPr>
          <a:xfrm>
            <a:off x="548640" y="3255264"/>
            <a:ext cx="8046720" cy="621792"/>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13" name="Text 11"/>
          <p:cNvSpPr/>
          <p:nvPr/>
        </p:nvSpPr>
        <p:spPr>
          <a:xfrm>
            <a:off x="777240" y="3255264"/>
            <a:ext cx="2103120" cy="621792"/>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تكامل مع LMS</a:t>
            </a:r>
            <a:endParaRPr lang="en-US" sz="1500" dirty="0"/>
          </a:p>
        </p:txBody>
      </p:sp>
      <p:sp>
        <p:nvSpPr>
          <p:cNvPr id="14" name="Text 12"/>
          <p:cNvSpPr/>
          <p:nvPr/>
        </p:nvSpPr>
        <p:spPr>
          <a:xfrm>
            <a:off x="2926080" y="3255264"/>
            <a:ext cx="5486400" cy="62179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ربط مع Moodle / Google Classroom لاستيراد وتصدير البيانات</a:t>
            </a:r>
            <a:endParaRPr lang="en-US" sz="1200" dirty="0"/>
          </a:p>
        </p:txBody>
      </p:sp>
      <p:sp>
        <p:nvSpPr>
          <p:cNvPr id="15" name="Shape 13"/>
          <p:cNvSpPr/>
          <p:nvPr/>
        </p:nvSpPr>
        <p:spPr>
          <a:xfrm>
            <a:off x="548640" y="4005072"/>
            <a:ext cx="8046720" cy="621792"/>
          </a:xfrm>
          <a:prstGeom prst="roundRect">
            <a:avLst>
              <a:gd name="adj" fmla="val 11765"/>
            </a:avLst>
          </a:prstGeom>
          <a:solidFill>
            <a:srgbClr val="FFFFFF"/>
          </a:solidFill>
          <a:ln/>
          <a:effectLst>
            <a:outerShdw sx="100000" sy="100000" kx="0" ky="0" algn="bl" rotWithShape="0" blurRad="101600" dist="38100" dir="2700000">
              <a:srgbClr val="000000">
                <a:alpha val="18000"/>
              </a:srgbClr>
            </a:outerShdw>
          </a:effectLst>
        </p:spPr>
      </p:sp>
      <p:sp>
        <p:nvSpPr>
          <p:cNvPr id="16" name="Text 14"/>
          <p:cNvSpPr/>
          <p:nvPr/>
        </p:nvSpPr>
        <p:spPr>
          <a:xfrm>
            <a:off x="777240" y="4005072"/>
            <a:ext cx="2103120" cy="621792"/>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لوحة تحكم متقدمة</a:t>
            </a:r>
            <a:endParaRPr lang="en-US" sz="1500" dirty="0"/>
          </a:p>
        </p:txBody>
      </p:sp>
      <p:sp>
        <p:nvSpPr>
          <p:cNvPr id="17" name="Text 15"/>
          <p:cNvSpPr/>
          <p:nvPr/>
        </p:nvSpPr>
        <p:spPr>
          <a:xfrm>
            <a:off x="2926080" y="4005072"/>
            <a:ext cx="5486400" cy="62179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تحليلات real-time مع رسوم بيانية تفاعلية ولوحات KPI</a:t>
            </a:r>
            <a:endParaRPr lang="en-US" sz="1200" dirty="0"/>
          </a:p>
        </p:txBody>
      </p:sp>
      <p:sp>
        <p:nvSpPr>
          <p:cNvPr id="18" name="Text 16"/>
          <p:cNvSpPr/>
          <p:nvPr/>
        </p:nvSpPr>
        <p:spPr>
          <a:xfrm>
            <a:off x="3840480" y="4754880"/>
            <a:ext cx="1463040" cy="320040"/>
          </a:xfrm>
          <a:prstGeom prst="rect">
            <a:avLst/>
          </a:prstGeom>
          <a:noFill/>
          <a:ln/>
        </p:spPr>
        <p:txBody>
          <a:bodyPr wrap="square" rtlCol="0" anchor="ctr"/>
          <a:lstStyle/>
          <a:p>
            <a:pPr algn="ctr" indent="0" marL="0">
              <a:buNone/>
            </a:pPr>
            <a:r>
              <a:rPr lang="en-US" sz="900" dirty="0">
                <a:solidFill>
                  <a:srgbClr val="6B7B9A"/>
                </a:solidFill>
              </a:rPr>
              <a:t>19 / 20</a:t>
            </a:r>
            <a:endParaRPr lang="en-US" sz="900" dirty="0"/>
          </a:p>
        </p:txBody>
      </p:sp>
      <p:pic>
        <p:nvPicPr>
          <p:cNvPr id="19" name="Image 0" descr="preencoded.png">    </p:cNvPr>
          <p:cNvPicPr>
            <a:picLocks noChangeAspect="1"/>
          </p:cNvPicPr>
          <p:nvPr/>
        </p:nvPicPr>
        <p:blipFill>
          <a:blip r:embed="rId1"/>
          <a:stretch>
            <a:fillRect/>
          </a:stretch>
        </p:blipFill>
        <p:spPr>
          <a:xfrm>
            <a:off x="8412480" y="4617720"/>
            <a:ext cx="411480" cy="4114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A2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429000" y="457200"/>
            <a:ext cx="2286000" cy="2286000"/>
          </a:xfrm>
          <a:prstGeom prst="rect">
            <a:avLst/>
          </a:prstGeom>
        </p:spPr>
      </p:pic>
      <p:sp>
        <p:nvSpPr>
          <p:cNvPr id="3" name="Text 0"/>
          <p:cNvSpPr/>
          <p:nvPr/>
        </p:nvSpPr>
        <p:spPr>
          <a:xfrm>
            <a:off x="457200" y="2880360"/>
            <a:ext cx="8229600" cy="64008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شكراً لحسن استماعكم</a:t>
            </a:r>
            <a:endParaRPr lang="en-US" sz="3600" dirty="0"/>
          </a:p>
        </p:txBody>
      </p:sp>
      <p:sp>
        <p:nvSpPr>
          <p:cNvPr id="4" name="Text 1"/>
          <p:cNvSpPr/>
          <p:nvPr/>
        </p:nvSpPr>
        <p:spPr>
          <a:xfrm>
            <a:off x="457200" y="3474720"/>
            <a:ext cx="8229600" cy="457200"/>
          </a:xfrm>
          <a:prstGeom prst="rect">
            <a:avLst/>
          </a:prstGeom>
          <a:noFill/>
          <a:ln/>
        </p:spPr>
        <p:txBody>
          <a:bodyPr wrap="square" rtlCol="0" anchor="ctr"/>
          <a:lstStyle/>
          <a:p>
            <a:pPr algn="ctr" indent="0" marL="0">
              <a:buNone/>
            </a:pPr>
            <a:r>
              <a:rPr lang="en-US" sz="2000" dirty="0">
                <a:solidFill>
                  <a:srgbClr val="F5A623"/>
                </a:solidFill>
                <a:latin typeface="Calibri" pitchFamily="34" charset="0"/>
                <a:ea typeface="Calibri" pitchFamily="34" charset="-122"/>
                <a:cs typeface="Calibri" pitchFamily="34" charset="-120"/>
              </a:rPr>
              <a:t>Thank You</a:t>
            </a:r>
            <a:endParaRPr lang="en-US" sz="2000" dirty="0"/>
          </a:p>
        </p:txBody>
      </p:sp>
      <p:sp>
        <p:nvSpPr>
          <p:cNvPr id="5" name="Text 2"/>
          <p:cNvSpPr/>
          <p:nvPr/>
        </p:nvSpPr>
        <p:spPr>
          <a:xfrm>
            <a:off x="457200" y="4023360"/>
            <a:ext cx="8229600" cy="365760"/>
          </a:xfrm>
          <a:prstGeom prst="rect">
            <a:avLst/>
          </a:prstGeom>
          <a:noFill/>
          <a:ln/>
        </p:spPr>
        <p:txBody>
          <a:bodyPr wrap="square" rtlCol="0" anchor="ctr"/>
          <a:lstStyle/>
          <a:p>
            <a:pPr algn="ctr" indent="0" marL="0">
              <a:buNone/>
            </a:pPr>
            <a:r>
              <a:rPr lang="en-US" sz="1600" dirty="0">
                <a:solidFill>
                  <a:srgbClr val="6B7B9A"/>
                </a:solidFill>
                <a:latin typeface="Calibri" pitchFamily="34" charset="0"/>
                <a:ea typeface="Calibri" pitchFamily="34" charset="-122"/>
                <a:cs typeface="Calibri" pitchFamily="34" charset="-120"/>
              </a:rPr>
              <a:t>InsightEdu — رؤية تعليمية ذكية</a:t>
            </a:r>
            <a:endParaRPr lang="en-US" sz="1600" dirty="0"/>
          </a:p>
        </p:txBody>
      </p:sp>
      <p:sp>
        <p:nvSpPr>
          <p:cNvPr id="6" name="Text 3"/>
          <p:cNvSpPr/>
          <p:nvPr/>
        </p:nvSpPr>
        <p:spPr>
          <a:xfrm>
            <a:off x="457200" y="4480560"/>
            <a:ext cx="8229600" cy="320040"/>
          </a:xfrm>
          <a:prstGeom prst="rect">
            <a:avLst/>
          </a:prstGeom>
          <a:noFill/>
          <a:ln/>
        </p:spPr>
        <p:txBody>
          <a:bodyPr wrap="square" rtlCol="0" anchor="ctr"/>
          <a:lstStyle/>
          <a:p>
            <a:pPr algn="ctr" indent="0" marL="0">
              <a:buNone/>
            </a:pPr>
            <a:r>
              <a:rPr lang="en-US" sz="1200" dirty="0">
                <a:solidFill>
                  <a:srgbClr val="6B7B9A"/>
                </a:solidFill>
                <a:latin typeface="Calibri" pitchFamily="34" charset="0"/>
                <a:ea typeface="Calibri" pitchFamily="34" charset="-122"/>
                <a:cs typeface="Calibri" pitchFamily="34" charset="-120"/>
              </a:rPr>
              <a:t>جامعة دمياط | كلية التربية النوعية | 2024/2025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InsightEdu - مشروع التخرج</dc:title>
  <dc:subject>PptxGenJS Presentation</dc:subject>
  <dc:creator>InsightEdu Team</dc:creator>
  <cp:lastModifiedBy>InsightEdu Team</cp:lastModifiedBy>
  <cp:revision>1</cp:revision>
  <dcterms:created xsi:type="dcterms:W3CDTF">2026-06-22T15:56:57Z</dcterms:created>
  <dcterms:modified xsi:type="dcterms:W3CDTF">2026-06-22T15:56:57Z</dcterms:modified>
</cp:coreProperties>
</file>